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2"/>
  </p:notesMasterIdLst>
  <p:sldIdLst>
    <p:sldId id="256" r:id="rId2"/>
    <p:sldId id="258" r:id="rId3"/>
    <p:sldId id="260" r:id="rId4"/>
    <p:sldId id="262" r:id="rId5"/>
    <p:sldId id="266" r:id="rId6"/>
    <p:sldId id="270" r:id="rId7"/>
    <p:sldId id="272" r:id="rId8"/>
    <p:sldId id="278" r:id="rId9"/>
    <p:sldId id="285" r:id="rId10"/>
    <p:sldId id="347" r:id="rId11"/>
    <p:sldId id="348" r:id="rId12"/>
    <p:sldId id="349" r:id="rId13"/>
    <p:sldId id="301" r:id="rId14"/>
    <p:sldId id="290" r:id="rId15"/>
    <p:sldId id="352" r:id="rId16"/>
    <p:sldId id="302" r:id="rId17"/>
    <p:sldId id="312" r:id="rId18"/>
    <p:sldId id="351" r:id="rId19"/>
    <p:sldId id="325" r:id="rId20"/>
    <p:sldId id="350" r:id="rId21"/>
  </p:sldIdLst>
  <p:sldSz cx="9144000" cy="5143500" type="screen16x9"/>
  <p:notesSz cx="6858000" cy="9144000"/>
  <p:embeddedFontLst>
    <p:embeddedFont>
      <p:font typeface="Crimson Text" panose="020B0604020202020204" charset="0"/>
      <p:regular r:id="rId23"/>
      <p:bold r:id="rId24"/>
      <p:italic r:id="rId25"/>
      <p:boldItalic r:id="rId26"/>
    </p:embeddedFont>
    <p:embeddedFont>
      <p:font typeface="Josefin Sans" pitchFamily="2" charset="0"/>
      <p:regular r:id="rId27"/>
      <p:bold r:id="rId28"/>
    </p:embeddedFont>
    <p:embeddedFont>
      <p:font typeface="Merriweather Light" panose="00000400000000000000" pitchFamily="2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Vidaloka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BD1BC8-C845-41A3-AE54-3AFE2A18FFE3}">
  <a:tblStyle styleId="{16BD1BC8-C845-41A3-AE54-3AFE2A18FF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cc7554a04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cc7554a04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cc7554a049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cc7554a049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cc7554a04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cc7554a04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07aaa41fe9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107aaa41fe9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1479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1083f33e91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1083f33e91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cc7554a049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cc7554a049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7311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cc7554a049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cc7554a049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cc7554a049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cc7554a049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6399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1083f33e91c_2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1083f33e91c_2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2028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1083f33e91c_2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1083f33e91c_2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382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endParaRPr/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1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6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7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1" r:id="rId9"/>
    <p:sldLayoutId id="2147483667" r:id="rId10"/>
    <p:sldLayoutId id="2147483672" r:id="rId11"/>
    <p:sldLayoutId id="2147483675" r:id="rId12"/>
    <p:sldLayoutId id="2147483682" r:id="rId13"/>
    <p:sldLayoutId id="2147483689" r:id="rId14"/>
    <p:sldLayoutId id="2147483696" r:id="rId15"/>
    <p:sldLayoutId id="2147483697" r:id="rId16"/>
    <p:sldLayoutId id="2147483698" r:id="rId17"/>
    <p:sldLayoutId id="2147483699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Voting App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Daniel Jessner, 4AHINF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96" name="Google Shape;496;p61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</a:t>
            </a:r>
            <a:endParaRPr dirty="0"/>
          </a:p>
        </p:txBody>
      </p:sp>
      <p:sp>
        <p:nvSpPr>
          <p:cNvPr id="497" name="Google Shape;497;p61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C# ; Java Spring Boot ; HTML, CSS, JS</a:t>
            </a:r>
            <a:endParaRPr dirty="0"/>
          </a:p>
        </p:txBody>
      </p:sp>
      <p:sp>
        <p:nvSpPr>
          <p:cNvPr id="499" name="Google Shape;499;p61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500" name="Google Shape;500;p61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Summary, Future</a:t>
            </a:r>
            <a:endParaRPr dirty="0"/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What didn‘t go as planned?</a:t>
            </a:r>
            <a:endParaRPr dirty="0"/>
          </a:p>
        </p:txBody>
      </p:sp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4" name="Google Shape;504;p61"/>
          <p:cNvSpPr txBox="1">
            <a:spLocks noGrp="1"/>
          </p:cNvSpPr>
          <p:nvPr>
            <p:ph type="title" idx="13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 dirty="0"/>
          </a:p>
        </p:txBody>
      </p:sp>
      <p:sp>
        <p:nvSpPr>
          <p:cNvPr id="506" name="Google Shape;506;p61"/>
          <p:cNvSpPr txBox="1">
            <a:spLocks noGrp="1"/>
          </p:cNvSpPr>
          <p:nvPr>
            <p:ph type="title" idx="15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 dirty="0"/>
          </a:p>
        </p:txBody>
      </p:sp>
      <p:sp>
        <p:nvSpPr>
          <p:cNvPr id="2" name="Google Shape;497;p61">
            <a:extLst>
              <a:ext uri="{FF2B5EF4-FFF2-40B4-BE49-F238E27FC236}">
                <a16:creationId xmlns:a16="http://schemas.microsoft.com/office/drawing/2014/main" id="{020979FA-4CC3-49BD-5C16-9628535603AB}"/>
              </a:ext>
            </a:extLst>
          </p:cNvPr>
          <p:cNvSpPr txBox="1">
            <a:spLocks/>
          </p:cNvSpPr>
          <p:nvPr/>
        </p:nvSpPr>
        <p:spPr>
          <a:xfrm>
            <a:off x="1655200" y="2224976"/>
            <a:ext cx="2486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de-DE" dirty="0"/>
              <a:t>What is the Voting App?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—Lao Tse</a:t>
            </a:r>
            <a:endParaRPr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-DE" dirty="0"/>
              <a:t>„</a:t>
            </a:r>
            <a:r>
              <a:rPr lang="en-US" dirty="0"/>
              <a:t>Only those who know their destination will find the way."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Similarities: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 Make private asking sessions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 Gather voting information fast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 Visualize results</a:t>
            </a:r>
            <a:endParaRPr lang="en-US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US"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Personal Intention</a:t>
            </a:r>
            <a:endParaRPr dirty="0"/>
          </a:p>
        </p:txBody>
      </p:sp>
      <p:pic>
        <p:nvPicPr>
          <p:cNvPr id="1026" name="Picture 2" descr="Engage with Kahoot! – Instructional Development">
            <a:extLst>
              <a:ext uri="{FF2B5EF4-FFF2-40B4-BE49-F238E27FC236}">
                <a16:creationId xmlns:a16="http://schemas.microsoft.com/office/drawing/2014/main" id="{90DB204A-0C81-93B5-1947-30160B467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456" y="1682000"/>
            <a:ext cx="4000633" cy="225035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9ED6B3-A542-D3C5-CB9B-F5087ED7CECC}"/>
              </a:ext>
            </a:extLst>
          </p:cNvPr>
          <p:cNvSpPr txBox="1"/>
          <p:nvPr/>
        </p:nvSpPr>
        <p:spPr>
          <a:xfrm>
            <a:off x="4828636" y="3942357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1 – Kahoot 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sp>
        <p:nvSpPr>
          <p:cNvPr id="574" name="Google Shape;574;p69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What is the Voting App?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Voting App</a:t>
            </a:r>
            <a:endParaRPr dirty="0"/>
          </a:p>
        </p:txBody>
      </p:sp>
      <p:sp>
        <p:nvSpPr>
          <p:cNvPr id="620" name="Google Shape;620;p73"/>
          <p:cNvSpPr txBox="1">
            <a:spLocks noGrp="1"/>
          </p:cNvSpPr>
          <p:nvPr>
            <p:ph type="subTitle" idx="1"/>
          </p:nvPr>
        </p:nvSpPr>
        <p:spPr>
          <a:xfrm>
            <a:off x="1496024" y="3194564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Session System</a:t>
            </a:r>
            <a:endParaRPr dirty="0"/>
          </a:p>
        </p:txBody>
      </p:sp>
      <p:sp>
        <p:nvSpPr>
          <p:cNvPr id="621" name="Google Shape;621;p73"/>
          <p:cNvSpPr txBox="1">
            <a:spLocks noGrp="1"/>
          </p:cNvSpPr>
          <p:nvPr>
            <p:ph type="subTitle" idx="2"/>
          </p:nvPr>
        </p:nvSpPr>
        <p:spPr>
          <a:xfrm>
            <a:off x="1496024" y="3604315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Create </a:t>
            </a:r>
            <a:r>
              <a:rPr lang="de-DE" noProof="1"/>
              <a:t>voting</a:t>
            </a:r>
            <a:r>
              <a:rPr lang="de-DE" dirty="0"/>
              <a:t> </a:t>
            </a:r>
            <a:r>
              <a:rPr lang="en-US" dirty="0"/>
              <a:t>sessions</a:t>
            </a:r>
            <a:r>
              <a:rPr lang="de-DE" dirty="0"/>
              <a:t>, store them in your account and start them whenever you want.</a:t>
            </a:r>
            <a:endParaRPr dirty="0"/>
          </a:p>
        </p:txBody>
      </p:sp>
      <p:sp>
        <p:nvSpPr>
          <p:cNvPr id="622" name="Google Shape;622;p73"/>
          <p:cNvSpPr txBox="1">
            <a:spLocks noGrp="1"/>
          </p:cNvSpPr>
          <p:nvPr>
            <p:ph type="subTitle" idx="3"/>
          </p:nvPr>
        </p:nvSpPr>
        <p:spPr>
          <a:xfrm>
            <a:off x="1496024" y="1579991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System</a:t>
            </a:r>
            <a:endParaRPr dirty="0"/>
          </a:p>
        </p:txBody>
      </p:sp>
      <p:sp>
        <p:nvSpPr>
          <p:cNvPr id="623" name="Google Shape;623;p73"/>
          <p:cNvSpPr txBox="1">
            <a:spLocks noGrp="1"/>
          </p:cNvSpPr>
          <p:nvPr>
            <p:ph type="subTitle" idx="4"/>
          </p:nvPr>
        </p:nvSpPr>
        <p:spPr>
          <a:xfrm>
            <a:off x="1496024" y="2003721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 in or register with a personal user.</a:t>
            </a:r>
          </a:p>
        </p:txBody>
      </p:sp>
      <p:grpSp>
        <p:nvGrpSpPr>
          <p:cNvPr id="628" name="Google Shape;628;p73"/>
          <p:cNvGrpSpPr/>
          <p:nvPr/>
        </p:nvGrpSpPr>
        <p:grpSpPr>
          <a:xfrm>
            <a:off x="2596745" y="2790955"/>
            <a:ext cx="282707" cy="392844"/>
            <a:chOff x="-64001300" y="4093650"/>
            <a:chExt cx="228450" cy="317450"/>
          </a:xfrm>
        </p:grpSpPr>
        <p:sp>
          <p:nvSpPr>
            <p:cNvPr id="629" name="Google Shape;629;p73"/>
            <p:cNvSpPr/>
            <p:nvPr/>
          </p:nvSpPr>
          <p:spPr>
            <a:xfrm>
              <a:off x="-63933550" y="4328375"/>
              <a:ext cx="93750" cy="40975"/>
            </a:xfrm>
            <a:custGeom>
              <a:avLst/>
              <a:gdLst/>
              <a:ahLst/>
              <a:cxnLst/>
              <a:rect l="l" t="t" r="r" b="b"/>
              <a:pathLst>
                <a:path w="3750" h="1639" extrusionOk="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73"/>
            <p:cNvSpPr/>
            <p:nvPr/>
          </p:nvSpPr>
          <p:spPr>
            <a:xfrm>
              <a:off x="-63980025" y="4135400"/>
              <a:ext cx="185900" cy="234725"/>
            </a:xfrm>
            <a:custGeom>
              <a:avLst/>
              <a:gdLst/>
              <a:ahLst/>
              <a:cxnLst/>
              <a:rect l="l" t="t" r="r" b="b"/>
              <a:pathLst>
                <a:path w="7436" h="9389" extrusionOk="0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73"/>
            <p:cNvSpPr/>
            <p:nvPr/>
          </p:nvSpPr>
          <p:spPr>
            <a:xfrm>
              <a:off x="-64001300" y="4389800"/>
              <a:ext cx="228450" cy="21300"/>
            </a:xfrm>
            <a:custGeom>
              <a:avLst/>
              <a:gdLst/>
              <a:ahLst/>
              <a:cxnLst/>
              <a:rect l="l" t="t" r="r" b="b"/>
              <a:pathLst>
                <a:path w="9138" h="852" extrusionOk="0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73"/>
            <p:cNvSpPr/>
            <p:nvPr/>
          </p:nvSpPr>
          <p:spPr>
            <a:xfrm>
              <a:off x="-64001300" y="4093650"/>
              <a:ext cx="226875" cy="20500"/>
            </a:xfrm>
            <a:custGeom>
              <a:avLst/>
              <a:gdLst/>
              <a:ahLst/>
              <a:cxnLst/>
              <a:rect l="l" t="t" r="r" b="b"/>
              <a:pathLst>
                <a:path w="9075" h="820" extrusionOk="0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1A83D7C1-2224-43DA-A2FE-CD1EDC986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874" y="1161054"/>
            <a:ext cx="392400" cy="392400"/>
          </a:xfrm>
          <a:prstGeom prst="rect">
            <a:avLst/>
          </a:prstGeom>
        </p:spPr>
      </p:pic>
      <p:sp>
        <p:nvSpPr>
          <p:cNvPr id="11" name="Google Shape;620;p73">
            <a:extLst>
              <a:ext uri="{FF2B5EF4-FFF2-40B4-BE49-F238E27FC236}">
                <a16:creationId xmlns:a16="http://schemas.microsoft.com/office/drawing/2014/main" id="{99FD4B4F-689E-9E44-D887-D001AA4299C0}"/>
              </a:ext>
            </a:extLst>
          </p:cNvPr>
          <p:cNvSpPr txBox="1">
            <a:spLocks/>
          </p:cNvSpPr>
          <p:nvPr/>
        </p:nvSpPr>
        <p:spPr>
          <a:xfrm>
            <a:off x="4768200" y="1562330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0" i="0" u="none" strike="noStrike" cap="none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marL="0" indent="0"/>
            <a:r>
              <a:rPr lang="de-AT" dirty="0"/>
              <a:t>Code System</a:t>
            </a:r>
          </a:p>
        </p:txBody>
      </p:sp>
      <p:sp>
        <p:nvSpPr>
          <p:cNvPr id="12" name="Google Shape;621;p73">
            <a:extLst>
              <a:ext uri="{FF2B5EF4-FFF2-40B4-BE49-F238E27FC236}">
                <a16:creationId xmlns:a16="http://schemas.microsoft.com/office/drawing/2014/main" id="{470733DA-C2F1-336F-5F58-3624EE5A903A}"/>
              </a:ext>
            </a:extLst>
          </p:cNvPr>
          <p:cNvSpPr txBox="1">
            <a:spLocks/>
          </p:cNvSpPr>
          <p:nvPr/>
        </p:nvSpPr>
        <p:spPr>
          <a:xfrm>
            <a:off x="4768200" y="1972081"/>
            <a:ext cx="2632776" cy="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Give the random generated session code to people you want to join.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CFB7488-8699-21FA-592B-7FC67B662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50" y="1159165"/>
            <a:ext cx="392400" cy="392400"/>
          </a:xfrm>
          <a:prstGeom prst="rect">
            <a:avLst/>
          </a:prstGeom>
        </p:spPr>
      </p:pic>
      <p:sp>
        <p:nvSpPr>
          <p:cNvPr id="27" name="Google Shape;620;p73">
            <a:extLst>
              <a:ext uri="{FF2B5EF4-FFF2-40B4-BE49-F238E27FC236}">
                <a16:creationId xmlns:a16="http://schemas.microsoft.com/office/drawing/2014/main" id="{0D727F97-6BA5-D625-C32A-96609E47E16D}"/>
              </a:ext>
            </a:extLst>
          </p:cNvPr>
          <p:cNvSpPr txBox="1">
            <a:spLocks/>
          </p:cNvSpPr>
          <p:nvPr/>
        </p:nvSpPr>
        <p:spPr>
          <a:xfrm>
            <a:off x="4768200" y="3132134"/>
            <a:ext cx="24861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0" i="0" u="none" strike="noStrike" cap="none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Vidaloka"/>
              <a:buNone/>
              <a:defRPr sz="2400" b="1" i="0" u="none" strike="noStrike" cap="none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marL="0" indent="0"/>
            <a:r>
              <a:rPr lang="de-AT" dirty="0"/>
              <a:t>Visualization</a:t>
            </a:r>
          </a:p>
        </p:txBody>
      </p:sp>
      <p:sp>
        <p:nvSpPr>
          <p:cNvPr id="28" name="Google Shape;621;p73">
            <a:extLst>
              <a:ext uri="{FF2B5EF4-FFF2-40B4-BE49-F238E27FC236}">
                <a16:creationId xmlns:a16="http://schemas.microsoft.com/office/drawing/2014/main" id="{B58DE0E2-B953-96C5-7418-B0A5FEA86271}"/>
              </a:ext>
            </a:extLst>
          </p:cNvPr>
          <p:cNvSpPr txBox="1">
            <a:spLocks/>
          </p:cNvSpPr>
          <p:nvPr/>
        </p:nvSpPr>
        <p:spPr>
          <a:xfrm>
            <a:off x="4768200" y="3541885"/>
            <a:ext cx="2486100" cy="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/>
              <a:t>Visualize the gathered results in both web and desktop.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AC1E905D-7D5E-7ED9-4C93-15CF8B06A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050" y="2797402"/>
            <a:ext cx="392400" cy="39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EAB86AB-B7C6-8D40-5B12-DE894F21F8CA}"/>
              </a:ext>
            </a:extLst>
          </p:cNvPr>
          <p:cNvSpPr txBox="1"/>
          <p:nvPr/>
        </p:nvSpPr>
        <p:spPr>
          <a:xfrm>
            <a:off x="0" y="4897279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2 – Voting App Login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1"/>
          <p:cNvSpPr txBox="1">
            <a:spLocks noGrp="1"/>
          </p:cNvSpPr>
          <p:nvPr>
            <p:ph type="title"/>
          </p:nvPr>
        </p:nvSpPr>
        <p:spPr>
          <a:xfrm>
            <a:off x="4956100" y="2467375"/>
            <a:ext cx="3578300" cy="6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Implementation</a:t>
            </a:r>
            <a:endParaRPr dirty="0"/>
          </a:p>
        </p:txBody>
      </p:sp>
      <p:sp>
        <p:nvSpPr>
          <p:cNvPr id="703" name="Google Shape;703;p81"/>
          <p:cNvSpPr txBox="1">
            <a:spLocks noGrp="1"/>
          </p:cNvSpPr>
          <p:nvPr>
            <p:ph type="title" idx="2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704" name="Google Shape;704;p81"/>
          <p:cNvSpPr txBox="1">
            <a:spLocks noGrp="1"/>
          </p:cNvSpPr>
          <p:nvPr>
            <p:ph type="subTitle" idx="1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de-DE" dirty="0"/>
              <a:t>C# ; Java Spring Boot ; HTML, CSS, JS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50" name="Picture 2" descr="Java Spring Boot — Intro. First of all, Spring Boot consists of… | by  mnaufalazwar | Medium">
            <a:extLst>
              <a:ext uri="{FF2B5EF4-FFF2-40B4-BE49-F238E27FC236}">
                <a16:creationId xmlns:a16="http://schemas.microsoft.com/office/drawing/2014/main" id="{D9726ACA-4EF7-06F1-1FB2-854B6CEB2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25" y="558710"/>
            <a:ext cx="2254475" cy="118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con Request: fa-javascript OR fa-js · Issue #11419 ·  FortAwesome/Font-Awesome · GitHub">
            <a:extLst>
              <a:ext uri="{FF2B5EF4-FFF2-40B4-BE49-F238E27FC236}">
                <a16:creationId xmlns:a16="http://schemas.microsoft.com/office/drawing/2014/main" id="{349427A4-8176-86EC-FA3E-E9EA5249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931" y="1742309"/>
            <a:ext cx="2475070" cy="145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 Sharp (C#) &quot; Icon - Download for free – Iconduck">
            <a:extLst>
              <a:ext uri="{FF2B5EF4-FFF2-40B4-BE49-F238E27FC236}">
                <a16:creationId xmlns:a16="http://schemas.microsoft.com/office/drawing/2014/main" id="{ECEE6866-B38E-3C94-AF34-F3DDE7243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160" y="3320320"/>
            <a:ext cx="1106611" cy="124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F564294-CCE7-2EC5-CCFE-2E71FC901277}"/>
              </a:ext>
            </a:extLst>
          </p:cNvPr>
          <p:cNvSpPr txBox="1"/>
          <p:nvPr/>
        </p:nvSpPr>
        <p:spPr>
          <a:xfrm>
            <a:off x="2317525" y="1619198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3 – Spring Boot Logo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4593907-F59C-CEF7-8D69-68A41DFE6B37}"/>
              </a:ext>
            </a:extLst>
          </p:cNvPr>
          <p:cNvSpPr txBox="1"/>
          <p:nvPr/>
        </p:nvSpPr>
        <p:spPr>
          <a:xfrm>
            <a:off x="2317525" y="3049018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4 – HTML, CSS, JS Logo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7461048-B4B7-611E-EF54-A63B034E9A2F}"/>
              </a:ext>
            </a:extLst>
          </p:cNvPr>
          <p:cNvSpPr txBox="1"/>
          <p:nvPr/>
        </p:nvSpPr>
        <p:spPr>
          <a:xfrm>
            <a:off x="2317525" y="4584790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5 – C# Logo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8"/>
          <p:cNvSpPr txBox="1">
            <a:spLocks noGrp="1"/>
          </p:cNvSpPr>
          <p:nvPr>
            <p:ph type="title"/>
          </p:nvPr>
        </p:nvSpPr>
        <p:spPr>
          <a:xfrm>
            <a:off x="5310925" y="962565"/>
            <a:ext cx="3123000" cy="1177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App Architecture</a:t>
            </a:r>
            <a:endParaRPr dirty="0"/>
          </a:p>
        </p:txBody>
      </p:sp>
      <p:sp>
        <p:nvSpPr>
          <p:cNvPr id="872" name="Google Shape;872;p88"/>
          <p:cNvSpPr txBox="1">
            <a:spLocks noGrp="1"/>
          </p:cNvSpPr>
          <p:nvPr>
            <p:ph type="subTitle" idx="1"/>
          </p:nvPr>
        </p:nvSpPr>
        <p:spPr>
          <a:xfrm>
            <a:off x="5310925" y="2223551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Backend: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	- Java Spring Boot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	- MongoDB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Frontend: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	- C# WPF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	- HTML, CSS, JS</a:t>
            </a:r>
          </a:p>
        </p:txBody>
      </p:sp>
      <p:pic>
        <p:nvPicPr>
          <p:cNvPr id="3" name="Grafik 2" descr="Ein Bild, das Screenshot, Text, Schrift, Reihe enthält.&#10;&#10;Automatisch generierte Beschreibung">
            <a:extLst>
              <a:ext uri="{FF2B5EF4-FFF2-40B4-BE49-F238E27FC236}">
                <a16:creationId xmlns:a16="http://schemas.microsoft.com/office/drawing/2014/main" id="{4E2F0B73-573B-7155-2745-D03E3161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75" y="894397"/>
            <a:ext cx="4524953" cy="335470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3F04953-D97A-4810-3E49-F1D2838DB429}"/>
              </a:ext>
            </a:extLst>
          </p:cNvPr>
          <p:cNvSpPr txBox="1"/>
          <p:nvPr/>
        </p:nvSpPr>
        <p:spPr>
          <a:xfrm>
            <a:off x="710075" y="4267613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6 – Voting App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1B60C-C49B-B241-934C-C2C3AA44BA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C1AA34-B6D0-F9FD-1144-DA3293B1B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Entities, DTOs</a:t>
            </a:r>
          </a:p>
        </p:txBody>
      </p:sp>
    </p:spTree>
    <p:extLst>
      <p:ext uri="{BB962C8B-B14F-4D97-AF65-F5344CB8AC3E}">
        <p14:creationId xmlns:p14="http://schemas.microsoft.com/office/powerpoint/2010/main" val="380929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1B60C-C49B-B241-934C-C2C3AA44BA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Endpoints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C1AA34-B6D0-F9FD-1144-DA3293B1B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Create, Read, Update, Delete</a:t>
            </a:r>
          </a:p>
        </p:txBody>
      </p:sp>
    </p:spTree>
    <p:extLst>
      <p:ext uri="{BB962C8B-B14F-4D97-AF65-F5344CB8AC3E}">
        <p14:creationId xmlns:p14="http://schemas.microsoft.com/office/powerpoint/2010/main" val="351220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74" name="Google Shape;574;p69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What didn‘t go as planned?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203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4"/>
          <p:cNvSpPr txBox="1">
            <a:spLocks noGrp="1"/>
          </p:cNvSpPr>
          <p:nvPr>
            <p:ph type="subTitle" idx="1"/>
          </p:nvPr>
        </p:nvSpPr>
        <p:spPr>
          <a:xfrm>
            <a:off x="3571924" y="2904446"/>
            <a:ext cx="2558711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Visualization</a:t>
            </a:r>
            <a:endParaRPr dirty="0"/>
          </a:p>
        </p:txBody>
      </p:sp>
      <p:sp>
        <p:nvSpPr>
          <p:cNvPr id="1274" name="Google Shape;1274;p104"/>
          <p:cNvSpPr txBox="1">
            <a:spLocks noGrp="1"/>
          </p:cNvSpPr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Bad </a:t>
            </a:r>
            <a:r>
              <a:rPr lang="de-DE" dirty="0" err="1"/>
              <a:t>choice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visualization</a:t>
            </a:r>
            <a:r>
              <a:rPr lang="de-DE" dirty="0"/>
              <a:t> </a:t>
            </a:r>
            <a:r>
              <a:rPr lang="de-DE" dirty="0" err="1"/>
              <a:t>package</a:t>
            </a:r>
            <a:endParaRPr dirty="0"/>
          </a:p>
        </p:txBody>
      </p:sp>
      <p:sp>
        <p:nvSpPr>
          <p:cNvPr id="1275" name="Google Shape;1275;p104"/>
          <p:cNvSpPr txBox="1">
            <a:spLocks noGrp="1"/>
          </p:cNvSpPr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</a:t>
            </a:r>
            <a:endParaRPr dirty="0"/>
          </a:p>
        </p:txBody>
      </p:sp>
      <p:sp>
        <p:nvSpPr>
          <p:cNvPr id="1276" name="Google Shape;1276;p104"/>
          <p:cNvSpPr txBox="1">
            <a:spLocks noGrp="1"/>
          </p:cNvSpPr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thin</a:t>
            </a:r>
            <a:r>
              <a:rPr lang="de-DE" dirty="0"/>
              <a:t> at the </a:t>
            </a:r>
            <a:r>
              <a:rPr lang="de-DE" dirty="0" err="1"/>
              <a:t>beginning</a:t>
            </a:r>
            <a:endParaRPr dirty="0"/>
          </a:p>
        </p:txBody>
      </p:sp>
      <p:sp>
        <p:nvSpPr>
          <p:cNvPr id="1277" name="Google Shape;1277;p104"/>
          <p:cNvSpPr txBox="1">
            <a:spLocks noGrp="1"/>
          </p:cNvSpPr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</a:t>
            </a:r>
            <a:endParaRPr dirty="0"/>
          </a:p>
        </p:txBody>
      </p:sp>
      <p:sp>
        <p:nvSpPr>
          <p:cNvPr id="1278" name="Google Shape;1278;p104"/>
          <p:cNvSpPr txBox="1">
            <a:spLocks noGrp="1"/>
          </p:cNvSpPr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 err="1"/>
              <a:t>Wrong</a:t>
            </a:r>
            <a:r>
              <a:rPr lang="de-DE" dirty="0"/>
              <a:t> time </a:t>
            </a:r>
            <a:r>
              <a:rPr lang="de-DE" dirty="0" err="1"/>
              <a:t>estimation</a:t>
            </a:r>
            <a:r>
              <a:rPr lang="de-DE" dirty="0"/>
              <a:t> </a:t>
            </a:r>
            <a:endParaRPr dirty="0"/>
          </a:p>
        </p:txBody>
      </p:sp>
      <p:grpSp>
        <p:nvGrpSpPr>
          <p:cNvPr id="1279" name="Google Shape;1279;p104"/>
          <p:cNvGrpSpPr/>
          <p:nvPr/>
        </p:nvGrpSpPr>
        <p:grpSpPr>
          <a:xfrm>
            <a:off x="1590600" y="1752050"/>
            <a:ext cx="1011000" cy="930000"/>
            <a:chOff x="3173876" y="1739175"/>
            <a:chExt cx="1011000" cy="930000"/>
          </a:xfrm>
        </p:grpSpPr>
        <p:sp>
          <p:nvSpPr>
            <p:cNvPr id="1280" name="Google Shape;1280;p104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" name="Google Shape;1281;p104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1282" name="Google Shape;1282;p104"/>
          <p:cNvGrpSpPr/>
          <p:nvPr/>
        </p:nvGrpSpPr>
        <p:grpSpPr>
          <a:xfrm>
            <a:off x="4074125" y="1752050"/>
            <a:ext cx="1011000" cy="930000"/>
            <a:chOff x="3173876" y="1739175"/>
            <a:chExt cx="1011000" cy="930000"/>
          </a:xfrm>
        </p:grpSpPr>
        <p:sp>
          <p:nvSpPr>
            <p:cNvPr id="1283" name="Google Shape;1283;p104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" name="Google Shape;1284;p104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1285" name="Google Shape;1285;p104"/>
          <p:cNvGrpSpPr/>
          <p:nvPr/>
        </p:nvGrpSpPr>
        <p:grpSpPr>
          <a:xfrm>
            <a:off x="6557650" y="1752050"/>
            <a:ext cx="1011000" cy="930000"/>
            <a:chOff x="3173876" y="1739175"/>
            <a:chExt cx="1011000" cy="930000"/>
          </a:xfrm>
        </p:grpSpPr>
        <p:sp>
          <p:nvSpPr>
            <p:cNvPr id="1286" name="Google Shape;1286;p104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" name="Google Shape;1287;p104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35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1288" name="Google Shape;1288;p10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Problems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9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Goals</a:t>
            </a:r>
            <a:endParaRPr dirty="0"/>
          </a:p>
        </p:txBody>
      </p:sp>
      <p:graphicFrame>
        <p:nvGraphicFramePr>
          <p:cNvPr id="1016" name="Google Shape;1016;p93"/>
          <p:cNvGraphicFramePr/>
          <p:nvPr>
            <p:extLst>
              <p:ext uri="{D42A27DB-BD31-4B8C-83A1-F6EECF244321}">
                <p14:modId xmlns:p14="http://schemas.microsoft.com/office/powerpoint/2010/main" val="2022520752"/>
              </p:ext>
            </p:extLst>
          </p:nvPr>
        </p:nvGraphicFramePr>
        <p:xfrm>
          <a:off x="1933182" y="1324717"/>
          <a:ext cx="5277586" cy="2835110"/>
        </p:xfrm>
        <a:graphic>
          <a:graphicData uri="http://schemas.openxmlformats.org/drawingml/2006/table">
            <a:tbl>
              <a:tblPr>
                <a:noFill/>
                <a:tableStyleId>{16BD1BC8-C845-41A3-AE54-3AFE2A18FFE3}</a:tableStyleId>
              </a:tblPr>
              <a:tblGrid>
                <a:gridCol w="196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Desktop</a:t>
                      </a: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-AT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Web</a:t>
                      </a:r>
                    </a:p>
                  </a:txBody>
                  <a:tcPr marL="91425" marR="91425" marT="91425" marB="91425">
                    <a:lnL w="28575" cap="flat" cmpd="sng" algn="ctr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Sessions</a:t>
                      </a: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e-AT"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Session Code</a:t>
                      </a: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e-AT"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Time Limit</a:t>
                      </a: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e-AT"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Visualization</a:t>
                      </a: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17" name="Google Shape;1017;p93"/>
          <p:cNvGrpSpPr/>
          <p:nvPr/>
        </p:nvGrpSpPr>
        <p:grpSpPr>
          <a:xfrm>
            <a:off x="4513378" y="1937685"/>
            <a:ext cx="382473" cy="382473"/>
            <a:chOff x="1492675" y="4992125"/>
            <a:chExt cx="481825" cy="481825"/>
          </a:xfrm>
        </p:grpSpPr>
        <p:sp>
          <p:nvSpPr>
            <p:cNvPr id="1018" name="Google Shape;1018;p93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019" name="Google Shape;1019;p93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044" name="Google Shape;1044;p93"/>
          <p:cNvGrpSpPr/>
          <p:nvPr/>
        </p:nvGrpSpPr>
        <p:grpSpPr>
          <a:xfrm>
            <a:off x="4513378" y="2557448"/>
            <a:ext cx="382473" cy="382473"/>
            <a:chOff x="1492675" y="4992125"/>
            <a:chExt cx="481825" cy="481825"/>
          </a:xfrm>
        </p:grpSpPr>
        <p:sp>
          <p:nvSpPr>
            <p:cNvPr id="1045" name="Google Shape;1045;p93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046" name="Google Shape;1046;p93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047" name="Google Shape;1047;p93"/>
          <p:cNvGrpSpPr/>
          <p:nvPr/>
        </p:nvGrpSpPr>
        <p:grpSpPr>
          <a:xfrm>
            <a:off x="4513378" y="3121518"/>
            <a:ext cx="382473" cy="382473"/>
            <a:chOff x="2085525" y="4992125"/>
            <a:chExt cx="481825" cy="481825"/>
          </a:xfrm>
        </p:grpSpPr>
        <p:sp>
          <p:nvSpPr>
            <p:cNvPr id="1048" name="Google Shape;1048;p93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049" name="Google Shape;1049;p93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050" name="Google Shape;1050;p93"/>
          <p:cNvGrpSpPr/>
          <p:nvPr/>
        </p:nvGrpSpPr>
        <p:grpSpPr>
          <a:xfrm>
            <a:off x="4513348" y="3706587"/>
            <a:ext cx="382473" cy="382473"/>
            <a:chOff x="1492675" y="4992125"/>
            <a:chExt cx="481825" cy="481825"/>
          </a:xfrm>
        </p:grpSpPr>
        <p:sp>
          <p:nvSpPr>
            <p:cNvPr id="1051" name="Google Shape;1051;p93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052" name="Google Shape;1052;p93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3" name="Google Shape;1017;p93">
            <a:extLst>
              <a:ext uri="{FF2B5EF4-FFF2-40B4-BE49-F238E27FC236}">
                <a16:creationId xmlns:a16="http://schemas.microsoft.com/office/drawing/2014/main" id="{EB89178F-F944-2B45-70D4-DAFAC6AE3823}"/>
              </a:ext>
            </a:extLst>
          </p:cNvPr>
          <p:cNvGrpSpPr/>
          <p:nvPr/>
        </p:nvGrpSpPr>
        <p:grpSpPr>
          <a:xfrm>
            <a:off x="6204925" y="1937684"/>
            <a:ext cx="382473" cy="382473"/>
            <a:chOff x="1492675" y="4992125"/>
            <a:chExt cx="481825" cy="481825"/>
          </a:xfrm>
        </p:grpSpPr>
        <p:sp>
          <p:nvSpPr>
            <p:cNvPr id="4" name="Google Shape;1018;p93">
              <a:extLst>
                <a:ext uri="{FF2B5EF4-FFF2-40B4-BE49-F238E27FC236}">
                  <a16:creationId xmlns:a16="http://schemas.microsoft.com/office/drawing/2014/main" id="{DA014C9B-8801-317E-AB98-4037EA464390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5" name="Google Shape;1019;p93">
              <a:extLst>
                <a:ext uri="{FF2B5EF4-FFF2-40B4-BE49-F238E27FC236}">
                  <a16:creationId xmlns:a16="http://schemas.microsoft.com/office/drawing/2014/main" id="{18448087-E7AD-43BE-A251-36DF6B033AD0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6" name="Google Shape;1044;p93">
            <a:extLst>
              <a:ext uri="{FF2B5EF4-FFF2-40B4-BE49-F238E27FC236}">
                <a16:creationId xmlns:a16="http://schemas.microsoft.com/office/drawing/2014/main" id="{292F8BAA-2A12-5DC5-BDCA-89C0B674D0A0}"/>
              </a:ext>
            </a:extLst>
          </p:cNvPr>
          <p:cNvGrpSpPr/>
          <p:nvPr/>
        </p:nvGrpSpPr>
        <p:grpSpPr>
          <a:xfrm>
            <a:off x="6204925" y="2549575"/>
            <a:ext cx="382473" cy="382473"/>
            <a:chOff x="1492675" y="4992125"/>
            <a:chExt cx="481825" cy="481825"/>
          </a:xfrm>
        </p:grpSpPr>
        <p:sp>
          <p:nvSpPr>
            <p:cNvPr id="7" name="Google Shape;1045;p93">
              <a:extLst>
                <a:ext uri="{FF2B5EF4-FFF2-40B4-BE49-F238E27FC236}">
                  <a16:creationId xmlns:a16="http://schemas.microsoft.com/office/drawing/2014/main" id="{627F258D-5252-23AC-5776-900D7B4EDDBE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8" name="Google Shape;1046;p93">
              <a:extLst>
                <a:ext uri="{FF2B5EF4-FFF2-40B4-BE49-F238E27FC236}">
                  <a16:creationId xmlns:a16="http://schemas.microsoft.com/office/drawing/2014/main" id="{A33E81DD-603A-761B-83D7-23B8B9E7784F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9" name="Google Shape;1047;p93">
            <a:extLst>
              <a:ext uri="{FF2B5EF4-FFF2-40B4-BE49-F238E27FC236}">
                <a16:creationId xmlns:a16="http://schemas.microsoft.com/office/drawing/2014/main" id="{3E17D0E2-C481-B9A3-AB26-2E928A31207E}"/>
              </a:ext>
            </a:extLst>
          </p:cNvPr>
          <p:cNvGrpSpPr/>
          <p:nvPr/>
        </p:nvGrpSpPr>
        <p:grpSpPr>
          <a:xfrm>
            <a:off x="6204924" y="3121517"/>
            <a:ext cx="382473" cy="382473"/>
            <a:chOff x="2085526" y="4992124"/>
            <a:chExt cx="481825" cy="481825"/>
          </a:xfrm>
        </p:grpSpPr>
        <p:sp>
          <p:nvSpPr>
            <p:cNvPr id="10" name="Google Shape;1048;p93">
              <a:extLst>
                <a:ext uri="{FF2B5EF4-FFF2-40B4-BE49-F238E27FC236}">
                  <a16:creationId xmlns:a16="http://schemas.microsoft.com/office/drawing/2014/main" id="{E0E8A348-FAE7-4D06-86CE-F6FDAE0183F3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1" name="Google Shape;1049;p93">
              <a:extLst>
                <a:ext uri="{FF2B5EF4-FFF2-40B4-BE49-F238E27FC236}">
                  <a16:creationId xmlns:a16="http://schemas.microsoft.com/office/drawing/2014/main" id="{C9FBC6B7-4DD5-5D4E-56A7-04BEF985B7AA}"/>
                </a:ext>
              </a:extLst>
            </p:cNvPr>
            <p:cNvSpPr/>
            <p:nvPr/>
          </p:nvSpPr>
          <p:spPr>
            <a:xfrm>
              <a:off x="2085526" y="4992124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2" name="Google Shape;1050;p93">
            <a:extLst>
              <a:ext uri="{FF2B5EF4-FFF2-40B4-BE49-F238E27FC236}">
                <a16:creationId xmlns:a16="http://schemas.microsoft.com/office/drawing/2014/main" id="{891E67C8-FBA0-2935-3EFE-953B674A5E28}"/>
              </a:ext>
            </a:extLst>
          </p:cNvPr>
          <p:cNvGrpSpPr/>
          <p:nvPr/>
        </p:nvGrpSpPr>
        <p:grpSpPr>
          <a:xfrm>
            <a:off x="6204924" y="3706587"/>
            <a:ext cx="382473" cy="382473"/>
            <a:chOff x="1492675" y="4992125"/>
            <a:chExt cx="481825" cy="481825"/>
          </a:xfrm>
        </p:grpSpPr>
        <p:sp>
          <p:nvSpPr>
            <p:cNvPr id="13" name="Google Shape;1051;p93">
              <a:extLst>
                <a:ext uri="{FF2B5EF4-FFF2-40B4-BE49-F238E27FC236}">
                  <a16:creationId xmlns:a16="http://schemas.microsoft.com/office/drawing/2014/main" id="{B7D903EA-E4B2-D075-E641-54D39002CF10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  <p:sp>
          <p:nvSpPr>
            <p:cNvPr id="14" name="Google Shape;1052;p93">
              <a:extLst>
                <a:ext uri="{FF2B5EF4-FFF2-40B4-BE49-F238E27FC236}">
                  <a16:creationId xmlns:a16="http://schemas.microsoft.com/office/drawing/2014/main" id="{4C0512BF-6BF8-4A69-B512-9FE6D8348571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74" name="Google Shape;574;p69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dirty="0"/>
              <a:t>Summary, Future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94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</a:t>
            </a:r>
            <a:endParaRPr dirty="0"/>
          </a:p>
        </p:txBody>
      </p:sp>
      <p:sp>
        <p:nvSpPr>
          <p:cNvPr id="1294" name="Google Shape;1294;p105"/>
          <p:cNvSpPr txBox="1"/>
          <p:nvPr/>
        </p:nvSpPr>
        <p:spPr>
          <a:xfrm>
            <a:off x="1091616" y="330602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Images</a:t>
            </a:r>
            <a:endParaRPr sz="2400" dirty="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95" name="Google Shape;1295;p105"/>
          <p:cNvSpPr txBox="1"/>
          <p:nvPr/>
        </p:nvSpPr>
        <p:spPr>
          <a:xfrm>
            <a:off x="1091638" y="364602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functionality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images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sessions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6" name="Google Shape;1296;p105"/>
          <p:cNvSpPr txBox="1"/>
          <p:nvPr/>
        </p:nvSpPr>
        <p:spPr>
          <a:xfrm>
            <a:off x="1091538" y="173917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Time Limit</a:t>
            </a:r>
            <a:endParaRPr sz="2400" dirty="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97" name="Google Shape;1297;p105"/>
          <p:cNvSpPr txBox="1"/>
          <p:nvPr/>
        </p:nvSpPr>
        <p:spPr>
          <a:xfrm>
            <a:off x="1091638" y="207917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editable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time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limit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sessions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5"/>
          <p:cNvSpPr txBox="1"/>
          <p:nvPr/>
        </p:nvSpPr>
        <p:spPr>
          <a:xfrm>
            <a:off x="6386313" y="330602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Answers</a:t>
            </a:r>
            <a:endParaRPr sz="2400" dirty="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99" name="Google Shape;1299;p105"/>
          <p:cNvSpPr txBox="1"/>
          <p:nvPr/>
        </p:nvSpPr>
        <p:spPr>
          <a:xfrm>
            <a:off x="6548288" y="364602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 different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types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of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r>
              <a:rPr lang="de-D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e.g. open </a:t>
            </a:r>
            <a:r>
              <a:rPr lang="de-DE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answers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105"/>
          <p:cNvSpPr txBox="1"/>
          <p:nvPr/>
        </p:nvSpPr>
        <p:spPr>
          <a:xfrm>
            <a:off x="6386313" y="173917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Audio Files</a:t>
            </a:r>
            <a:endParaRPr sz="2400" dirty="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01" name="Google Shape;1301;p105"/>
          <p:cNvSpPr txBox="1"/>
          <p:nvPr/>
        </p:nvSpPr>
        <p:spPr>
          <a:xfrm>
            <a:off x="6548263" y="207917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 functionality to add audio files to sessions.</a:t>
            </a:r>
          </a:p>
        </p:txBody>
      </p:sp>
      <p:grpSp>
        <p:nvGrpSpPr>
          <p:cNvPr id="1302" name="Google Shape;1302;p105"/>
          <p:cNvGrpSpPr/>
          <p:nvPr/>
        </p:nvGrpSpPr>
        <p:grpSpPr>
          <a:xfrm>
            <a:off x="3254913" y="1739175"/>
            <a:ext cx="2958275" cy="2496845"/>
            <a:chOff x="3254913" y="1739175"/>
            <a:chExt cx="2958275" cy="2496845"/>
          </a:xfrm>
        </p:grpSpPr>
        <p:sp>
          <p:nvSpPr>
            <p:cNvPr id="1304" name="Google Shape;1304;p105"/>
            <p:cNvSpPr/>
            <p:nvPr/>
          </p:nvSpPr>
          <p:spPr>
            <a:xfrm>
              <a:off x="3730408" y="1973899"/>
              <a:ext cx="2007300" cy="200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3000"/>
              </a:pPr>
              <a:r>
                <a:rPr lang="de-DE" sz="2000" dirty="0">
                  <a:solidFill>
                    <a:schemeClr val="bg1"/>
                  </a:solidFill>
                  <a:latin typeface="Vidaloka"/>
                  <a:sym typeface="Vidaloka"/>
                </a:rPr>
                <a:t>Voting App</a:t>
              </a:r>
              <a:endParaRPr sz="2000" dirty="0">
                <a:solidFill>
                  <a:schemeClr val="bg1"/>
                </a:solidFill>
                <a:latin typeface="Vidaloka"/>
                <a:sym typeface="Vidaloka"/>
              </a:endParaRPr>
            </a:p>
          </p:txBody>
        </p:sp>
        <p:grpSp>
          <p:nvGrpSpPr>
            <p:cNvPr id="1312" name="Google Shape;1312;p105"/>
            <p:cNvGrpSpPr/>
            <p:nvPr/>
          </p:nvGrpSpPr>
          <p:grpSpPr>
            <a:xfrm>
              <a:off x="3254913" y="1739175"/>
              <a:ext cx="1011000" cy="930000"/>
              <a:chOff x="3173876" y="1739175"/>
              <a:chExt cx="1011000" cy="930000"/>
            </a:xfrm>
          </p:grpSpPr>
          <p:sp>
            <p:nvSpPr>
              <p:cNvPr id="1313" name="Google Shape;1313;p105"/>
              <p:cNvSpPr/>
              <p:nvPr/>
            </p:nvSpPr>
            <p:spPr>
              <a:xfrm>
                <a:off x="3214375" y="1739175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4" name="Google Shape;1314;p105"/>
              <p:cNvSpPr txBox="1"/>
              <p:nvPr/>
            </p:nvSpPr>
            <p:spPr>
              <a:xfrm>
                <a:off x="3173876" y="187042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01</a:t>
                </a:r>
                <a:endParaRPr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15" name="Google Shape;1315;p105"/>
            <p:cNvGrpSpPr/>
            <p:nvPr/>
          </p:nvGrpSpPr>
          <p:grpSpPr>
            <a:xfrm>
              <a:off x="5202188" y="1739175"/>
              <a:ext cx="1011000" cy="930000"/>
              <a:chOff x="5121151" y="1739175"/>
              <a:chExt cx="1011000" cy="930000"/>
            </a:xfrm>
          </p:grpSpPr>
          <p:sp>
            <p:nvSpPr>
              <p:cNvPr id="1316" name="Google Shape;1316;p105"/>
              <p:cNvSpPr/>
              <p:nvPr/>
            </p:nvSpPr>
            <p:spPr>
              <a:xfrm>
                <a:off x="5161644" y="1739175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7" name="Google Shape;1317;p105"/>
              <p:cNvSpPr txBox="1"/>
              <p:nvPr/>
            </p:nvSpPr>
            <p:spPr>
              <a:xfrm>
                <a:off x="5121151" y="187042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02</a:t>
                </a:r>
                <a:endParaRPr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18" name="Google Shape;1318;p105"/>
            <p:cNvGrpSpPr/>
            <p:nvPr/>
          </p:nvGrpSpPr>
          <p:grpSpPr>
            <a:xfrm>
              <a:off x="3254913" y="3306020"/>
              <a:ext cx="1011000" cy="930000"/>
              <a:chOff x="3173876" y="3306020"/>
              <a:chExt cx="1011000" cy="930000"/>
            </a:xfrm>
          </p:grpSpPr>
          <p:sp>
            <p:nvSpPr>
              <p:cNvPr id="1319" name="Google Shape;1319;p105"/>
              <p:cNvSpPr/>
              <p:nvPr/>
            </p:nvSpPr>
            <p:spPr>
              <a:xfrm>
                <a:off x="3214375" y="3306020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0" name="Google Shape;1320;p105"/>
              <p:cNvSpPr txBox="1"/>
              <p:nvPr/>
            </p:nvSpPr>
            <p:spPr>
              <a:xfrm>
                <a:off x="3173876" y="343727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03</a:t>
                </a:r>
                <a:endParaRPr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21" name="Google Shape;1321;p105"/>
            <p:cNvGrpSpPr/>
            <p:nvPr/>
          </p:nvGrpSpPr>
          <p:grpSpPr>
            <a:xfrm>
              <a:off x="5202188" y="3306020"/>
              <a:ext cx="1011000" cy="930000"/>
              <a:chOff x="5121151" y="3306020"/>
              <a:chExt cx="1011000" cy="930000"/>
            </a:xfrm>
          </p:grpSpPr>
          <p:sp>
            <p:nvSpPr>
              <p:cNvPr id="1322" name="Google Shape;1322;p105"/>
              <p:cNvSpPr/>
              <p:nvPr/>
            </p:nvSpPr>
            <p:spPr>
              <a:xfrm>
                <a:off x="5161644" y="3306020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23" name="Google Shape;1323;p105"/>
              <p:cNvSpPr txBox="1"/>
              <p:nvPr/>
            </p:nvSpPr>
            <p:spPr>
              <a:xfrm>
                <a:off x="5121151" y="343727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04</a:t>
                </a:r>
                <a:endParaRPr sz="3500" dirty="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15"/>
          <p:cNvSpPr txBox="1">
            <a:spLocks noGrp="1"/>
          </p:cNvSpPr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-DE" dirty="0"/>
              <a:t>Was </a:t>
            </a:r>
            <a:r>
              <a:rPr lang="de-DE" dirty="0" err="1"/>
              <a:t>it</a:t>
            </a:r>
            <a:r>
              <a:rPr lang="de-DE" dirty="0"/>
              <a:t> all just </a:t>
            </a:r>
            <a:r>
              <a:rPr lang="de-DE" dirty="0" err="1"/>
              <a:t>fantasy</a:t>
            </a:r>
            <a:r>
              <a:rPr lang="de-DE" dirty="0"/>
              <a:t>?</a:t>
            </a:r>
            <a:endParaRPr dirty="0"/>
          </a:p>
        </p:txBody>
      </p:sp>
      <p:grpSp>
        <p:nvGrpSpPr>
          <p:cNvPr id="1483" name="Google Shape;1483;p115"/>
          <p:cNvGrpSpPr/>
          <p:nvPr/>
        </p:nvGrpSpPr>
        <p:grpSpPr>
          <a:xfrm>
            <a:off x="5205650" y="1369751"/>
            <a:ext cx="3017896" cy="2531353"/>
            <a:chOff x="649171" y="238145"/>
            <a:chExt cx="6249525" cy="5241981"/>
          </a:xfrm>
        </p:grpSpPr>
        <p:sp>
          <p:nvSpPr>
            <p:cNvPr id="1484" name="Google Shape;1484;p115"/>
            <p:cNvSpPr/>
            <p:nvPr/>
          </p:nvSpPr>
          <p:spPr>
            <a:xfrm>
              <a:off x="2850275" y="4515119"/>
              <a:ext cx="1849000" cy="810050"/>
            </a:xfrm>
            <a:custGeom>
              <a:avLst/>
              <a:gdLst/>
              <a:ahLst/>
              <a:cxnLst/>
              <a:rect l="l" t="t" r="r" b="b"/>
              <a:pathLst>
                <a:path w="73960" h="32402" extrusionOk="0">
                  <a:moveTo>
                    <a:pt x="7960" y="1"/>
                  </a:moveTo>
                  <a:cubicBezTo>
                    <a:pt x="5284" y="10848"/>
                    <a:pt x="2607" y="21625"/>
                    <a:pt x="1" y="32402"/>
                  </a:cubicBezTo>
                  <a:lnTo>
                    <a:pt x="73960" y="32402"/>
                  </a:lnTo>
                  <a:lnTo>
                    <a:pt x="66071" y="1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115"/>
            <p:cNvSpPr/>
            <p:nvPr/>
          </p:nvSpPr>
          <p:spPr>
            <a:xfrm>
              <a:off x="2638975" y="5325151"/>
              <a:ext cx="2269850" cy="154975"/>
            </a:xfrm>
            <a:custGeom>
              <a:avLst/>
              <a:gdLst/>
              <a:ahLst/>
              <a:cxnLst/>
              <a:rect l="l" t="t" r="r" b="b"/>
              <a:pathLst>
                <a:path w="90794" h="6199" extrusionOk="0">
                  <a:moveTo>
                    <a:pt x="3875" y="0"/>
                  </a:moveTo>
                  <a:cubicBezTo>
                    <a:pt x="1761" y="0"/>
                    <a:pt x="1" y="2043"/>
                    <a:pt x="1" y="4508"/>
                  </a:cubicBezTo>
                  <a:lnTo>
                    <a:pt x="1" y="6199"/>
                  </a:lnTo>
                  <a:lnTo>
                    <a:pt x="90794" y="6199"/>
                  </a:lnTo>
                  <a:lnTo>
                    <a:pt x="90794" y="4508"/>
                  </a:lnTo>
                  <a:cubicBezTo>
                    <a:pt x="90794" y="2043"/>
                    <a:pt x="89103" y="0"/>
                    <a:pt x="86990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115"/>
            <p:cNvSpPr/>
            <p:nvPr/>
          </p:nvSpPr>
          <p:spPr>
            <a:xfrm>
              <a:off x="649171" y="238145"/>
              <a:ext cx="6249525" cy="4250923"/>
            </a:xfrm>
            <a:custGeom>
              <a:avLst/>
              <a:gdLst/>
              <a:ahLst/>
              <a:cxnLst/>
              <a:rect l="l" t="t" r="r" b="b"/>
              <a:pathLst>
                <a:path w="249981" h="157427" extrusionOk="0">
                  <a:moveTo>
                    <a:pt x="6198" y="0"/>
                  </a:moveTo>
                  <a:cubicBezTo>
                    <a:pt x="2817" y="0"/>
                    <a:pt x="0" y="2817"/>
                    <a:pt x="0" y="6198"/>
                  </a:cubicBezTo>
                  <a:lnTo>
                    <a:pt x="0" y="157427"/>
                  </a:lnTo>
                  <a:lnTo>
                    <a:pt x="249980" y="157427"/>
                  </a:lnTo>
                  <a:lnTo>
                    <a:pt x="249980" y="6198"/>
                  </a:lnTo>
                  <a:cubicBezTo>
                    <a:pt x="249980" y="2817"/>
                    <a:pt x="247233" y="0"/>
                    <a:pt x="243782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115"/>
            <p:cNvSpPr/>
            <p:nvPr/>
          </p:nvSpPr>
          <p:spPr>
            <a:xfrm>
              <a:off x="904475" y="481125"/>
              <a:ext cx="5738850" cy="3435575"/>
            </a:xfrm>
            <a:custGeom>
              <a:avLst/>
              <a:gdLst/>
              <a:ahLst/>
              <a:cxnLst/>
              <a:rect l="l" t="t" r="r" b="b"/>
              <a:pathLst>
                <a:path w="229554" h="137423" extrusionOk="0">
                  <a:moveTo>
                    <a:pt x="0" y="0"/>
                  </a:moveTo>
                  <a:lnTo>
                    <a:pt x="0" y="137423"/>
                  </a:lnTo>
                  <a:lnTo>
                    <a:pt x="229554" y="137423"/>
                  </a:lnTo>
                  <a:lnTo>
                    <a:pt x="229554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F71F00CE-8F08-579C-841A-138B154E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4" name="Grafik 3" descr="Ein Bild, das Text, Screenshot, Schrift, pink enthält.&#10;&#10;Automatisch generierte Beschreibung">
            <a:extLst>
              <a:ext uri="{FF2B5EF4-FFF2-40B4-BE49-F238E27FC236}">
                <a16:creationId xmlns:a16="http://schemas.microsoft.com/office/drawing/2014/main" id="{CE5E494D-5802-85E0-017D-7EB8A66E0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354" y="1487086"/>
            <a:ext cx="2777873" cy="168235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B8B428D-5A1D-AD7B-E5F3-BECE67E342C0}"/>
              </a:ext>
            </a:extLst>
          </p:cNvPr>
          <p:cNvSpPr txBox="1"/>
          <p:nvPr/>
        </p:nvSpPr>
        <p:spPr>
          <a:xfrm>
            <a:off x="5322354" y="3140349"/>
            <a:ext cx="2517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7 – Voting App Login Page</a:t>
            </a:r>
          </a:p>
        </p:txBody>
      </p:sp>
    </p:spTree>
    <p:extLst>
      <p:ext uri="{BB962C8B-B14F-4D97-AF65-F5344CB8AC3E}">
        <p14:creationId xmlns:p14="http://schemas.microsoft.com/office/powerpoint/2010/main" val="910054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28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</a:t>
            </a:r>
            <a:endParaRPr dirty="0"/>
          </a:p>
        </p:txBody>
      </p:sp>
      <p:sp>
        <p:nvSpPr>
          <p:cNvPr id="1879" name="Google Shape;1879;p128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1: https://tomwala.blog/wp-content/uploads/2018/12/kahoot.png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2: Voting App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3: https://dev.to/jazzybruno/spring-boot-project-folder-structure-12oe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4: https://www.htl-salzburg.ac.at/news-detail/programmiersprachen-in-der-elektronik-abteilung.html</a:t>
            </a:r>
          </a:p>
        </p:txBody>
      </p:sp>
      <p:sp>
        <p:nvSpPr>
          <p:cNvPr id="1880" name="Google Shape;1880;p1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5626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28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</a:t>
            </a:r>
            <a:endParaRPr dirty="0"/>
          </a:p>
        </p:txBody>
      </p:sp>
      <p:sp>
        <p:nvSpPr>
          <p:cNvPr id="1879" name="Google Shape;1879;p128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5: https://www.heise.de/select/ct/2020/13/2006317524240742331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6: Voting App README.md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 dirty="0"/>
              <a:t>Figure 7: Voting App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de-DE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dirty="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Icons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 dirty="0"/>
              <a:t>https://www.flaticon.com/de/</a:t>
            </a:r>
          </a:p>
        </p:txBody>
      </p:sp>
      <p:sp>
        <p:nvSpPr>
          <p:cNvPr id="1880" name="Google Shape;1880;p1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772798" y="2162550"/>
            <a:ext cx="7598403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for your attention!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921129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Bildschirmpräsentation (16:9)</PresentationFormat>
  <Paragraphs>109</Paragraphs>
  <Slides>20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Merriweather Light</vt:lpstr>
      <vt:lpstr>Crimson Text</vt:lpstr>
      <vt:lpstr>Montserrat</vt:lpstr>
      <vt:lpstr>Josefin Sans</vt:lpstr>
      <vt:lpstr>Vidaloka</vt:lpstr>
      <vt:lpstr>Minimalist Business Slides XL by Slidesgo</vt:lpstr>
      <vt:lpstr>Voting App</vt:lpstr>
      <vt:lpstr>Table of contents</vt:lpstr>
      <vt:lpstr>—Lao Tse</vt:lpstr>
      <vt:lpstr>Personal Intention</vt:lpstr>
      <vt:lpstr>Introduction</vt:lpstr>
      <vt:lpstr>Voting App</vt:lpstr>
      <vt:lpstr>PowerPoint-Präsentation</vt:lpstr>
      <vt:lpstr>Implementation</vt:lpstr>
      <vt:lpstr>App Architecture</vt:lpstr>
      <vt:lpstr>Data Model</vt:lpstr>
      <vt:lpstr>API Endpoints</vt:lpstr>
      <vt:lpstr>Problems</vt:lpstr>
      <vt:lpstr>Problems</vt:lpstr>
      <vt:lpstr>Goals</vt:lpstr>
      <vt:lpstr>Conclusion</vt:lpstr>
      <vt:lpstr>Future</vt:lpstr>
      <vt:lpstr>Live Demo</vt:lpstr>
      <vt:lpstr>Resources</vt:lpstr>
      <vt:lpstr>Resources</vt:lpstr>
      <vt:lpstr>Thanks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</dc:creator>
  <cp:lastModifiedBy>Jessner Daniel</cp:lastModifiedBy>
  <cp:revision>2</cp:revision>
  <dcterms:modified xsi:type="dcterms:W3CDTF">2024-06-09T19:20:16Z</dcterms:modified>
</cp:coreProperties>
</file>