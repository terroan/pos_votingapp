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</p:sldMasterIdLst>
  <p:notesMasterIdLst>
    <p:notesMasterId r:id="rId22"/>
  </p:notesMasterIdLst>
  <p:sldIdLst>
    <p:sldId id="256" r:id="rId2"/>
    <p:sldId id="258" r:id="rId3"/>
    <p:sldId id="260" r:id="rId4"/>
    <p:sldId id="262" r:id="rId5"/>
    <p:sldId id="266" r:id="rId6"/>
    <p:sldId id="270" r:id="rId7"/>
    <p:sldId id="272" r:id="rId8"/>
    <p:sldId id="278" r:id="rId9"/>
    <p:sldId id="285" r:id="rId10"/>
    <p:sldId id="347" r:id="rId11"/>
    <p:sldId id="348" r:id="rId12"/>
    <p:sldId id="349" r:id="rId13"/>
    <p:sldId id="301" r:id="rId14"/>
    <p:sldId id="290" r:id="rId15"/>
    <p:sldId id="352" r:id="rId16"/>
    <p:sldId id="302" r:id="rId17"/>
    <p:sldId id="312" r:id="rId18"/>
    <p:sldId id="351" r:id="rId19"/>
    <p:sldId id="325" r:id="rId20"/>
    <p:sldId id="350" r:id="rId21"/>
  </p:sldIdLst>
  <p:sldSz cx="9144000" cy="5143500" type="screen16x9"/>
  <p:notesSz cx="6858000" cy="9144000"/>
  <p:embeddedFontLst>
    <p:embeddedFont>
      <p:font typeface="Crimson Text" panose="020B0604020202020204" charset="0"/>
      <p:regular r:id="rId23"/>
      <p:bold r:id="rId24"/>
      <p:italic r:id="rId25"/>
      <p:boldItalic r:id="rId26"/>
    </p:embeddedFont>
    <p:embeddedFont>
      <p:font typeface="Josefin Sans" pitchFamily="2" charset="0"/>
      <p:regular r:id="rId27"/>
      <p:bold r:id="rId28"/>
    </p:embeddedFont>
    <p:embeddedFont>
      <p:font typeface="Merriweather Light" panose="00000400000000000000" pitchFamily="2" charset="0"/>
      <p:regular r:id="rId29"/>
      <p:bold r:id="rId30"/>
      <p:italic r:id="rId31"/>
      <p:boldItalic r:id="rId32"/>
    </p:embeddedFont>
    <p:embeddedFont>
      <p:font typeface="Montserrat" panose="00000500000000000000" pitchFamily="2" charset="0"/>
      <p:regular r:id="rId33"/>
      <p:bold r:id="rId34"/>
      <p:italic r:id="rId35"/>
      <p:boldItalic r:id="rId36"/>
    </p:embeddedFont>
    <p:embeddedFont>
      <p:font typeface="Vidaloka" panose="020B0604020202020204" charset="0"/>
      <p:regular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BD1BC8-C845-41A3-AE54-3AFE2A18FFE3}">
  <a:tblStyle styleId="{16BD1BC8-C845-41A3-AE54-3AFE2A18FFE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91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cf7a3c50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cf7a3c50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cd8a80d6bc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cd8a80d6bc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cf7a3c503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0" name="Google Shape;570;gcf7a3c503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cc7554a049_0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cc7554a049_0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cc7554a049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Google Shape;649;gcc7554a049_0_4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cc7554a049_0_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cc7554a049_0_4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107aaa41fe9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107aaa41fe9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cf7a3c503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0" name="Google Shape;570;gcf7a3c503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1479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g1083f33e91c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1" name="Google Shape;1271;g1083f33e91c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gcc7554a049_0_5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3" name="Google Shape;1013;gcc7554a049_0_5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cf7a3c503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0" name="Google Shape;570;gcf7a3c503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73113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Google Shape;1290;gcc7554a049_0_5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1" name="Google Shape;1291;gcc7554a049_0_5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gcc7554a049_0_8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9" name="Google Shape;1479;gcc7554a049_0_8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6399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Google Shape;1875;g1083f33e91c_2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6" name="Google Shape;1876;g1083f33e91c_2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20280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5" name="Google Shape;1875;g1083f33e91c_2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6" name="Google Shape;1876;g1083f33e91c_2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cf7a3c503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0" name="Google Shape;570;gcf7a3c503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73820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2714550" y="2366272"/>
            <a:ext cx="3714900" cy="818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3746550" y="133916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2291400" y="3076675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9" name="Google Shape;19;p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" name="Google Shape;20;p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Google Shape;21;p3"/>
          <p:cNvCxnSpPr/>
          <p:nvPr/>
        </p:nvCxnSpPr>
        <p:spPr>
          <a:xfrm flipH="1">
            <a:off x="7948925" y="3979775"/>
            <a:ext cx="1378500" cy="12363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Google Shape;22;p3"/>
          <p:cNvCxnSpPr/>
          <p:nvPr/>
        </p:nvCxnSpPr>
        <p:spPr>
          <a:xfrm flipH="1">
            <a:off x="-112875" y="-88700"/>
            <a:ext cx="1418700" cy="1064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81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50389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50389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3"/>
          </p:nvPr>
        </p:nvSpPr>
        <p:spPr>
          <a:xfrm>
            <a:off x="1693175" y="2551449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Font typeface="Vidaloka"/>
              <a:buNone/>
              <a:defRPr sz="2400" b="1"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4"/>
          </p:nvPr>
        </p:nvSpPr>
        <p:spPr>
          <a:xfrm>
            <a:off x="1693175" y="2961200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5" name="Google Shape;35;p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" name="Google Shape;36;p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" name="Google Shape;37;p5"/>
          <p:cNvCxnSpPr/>
          <p:nvPr/>
        </p:nvCxnSpPr>
        <p:spPr>
          <a:xfrm flipH="1">
            <a:off x="6935750" y="3931325"/>
            <a:ext cx="2549400" cy="13545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2247500" y="1433050"/>
            <a:ext cx="1838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idaloka"/>
              <a:buNone/>
              <a:defRPr sz="2400" b="1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ubTitle" idx="2"/>
          </p:nvPr>
        </p:nvSpPr>
        <p:spPr>
          <a:xfrm>
            <a:off x="2247500" y="1790050"/>
            <a:ext cx="5160300" cy="27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50800" lvl="0" rtl="0">
              <a:lnSpc>
                <a:spcPct val="166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>
                <a:solidFill>
                  <a:srgbClr val="374957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297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46" name="Google Shape;46;p7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713225" y="441927"/>
            <a:ext cx="3557100" cy="97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000">
                <a:latin typeface="Vidaloka"/>
                <a:ea typeface="Vidaloka"/>
                <a:cs typeface="Vidaloka"/>
                <a:sym typeface="Vidaloka"/>
              </a:defRPr>
            </a:lvl1pPr>
          </a:lstStyle>
          <a:p>
            <a:endParaRPr/>
          </a:p>
        </p:txBody>
      </p:sp>
      <p:cxnSp>
        <p:nvCxnSpPr>
          <p:cNvPr id="62" name="Google Shape;62;p1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" name="Google Shape;63;p1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0"/>
          <p:cNvCxnSpPr/>
          <p:nvPr/>
        </p:nvCxnSpPr>
        <p:spPr>
          <a:xfrm rot="10800000" flipH="1">
            <a:off x="6144975" y="3103725"/>
            <a:ext cx="3118200" cy="22011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50010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"/>
          </p:nvPr>
        </p:nvSpPr>
        <p:spPr>
          <a:xfrm>
            <a:off x="5001000" y="2255100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3"/>
          </p:nvPr>
        </p:nvSpPr>
        <p:spPr>
          <a:xfrm>
            <a:off x="16552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4"/>
          </p:nvPr>
        </p:nvSpPr>
        <p:spPr>
          <a:xfrm>
            <a:off x="1655200" y="2255100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50010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6"/>
          </p:nvPr>
        </p:nvSpPr>
        <p:spPr>
          <a:xfrm>
            <a:off x="500100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7"/>
          </p:nvPr>
        </p:nvSpPr>
        <p:spPr>
          <a:xfrm>
            <a:off x="16552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400"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165525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 hasCustomPrompt="1"/>
          </p:nvPr>
        </p:nvSpPr>
        <p:spPr>
          <a:xfrm>
            <a:off x="23786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57244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4" hasCustomPrompt="1"/>
          </p:nvPr>
        </p:nvSpPr>
        <p:spPr>
          <a:xfrm>
            <a:off x="237870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 hasCustomPrompt="1"/>
          </p:nvPr>
        </p:nvSpPr>
        <p:spPr>
          <a:xfrm>
            <a:off x="572445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38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sz="4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cxnSp>
        <p:nvCxnSpPr>
          <p:cNvPr id="87" name="Google Shape;87;p1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2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Crimson Text"/>
              <a:buNone/>
              <a:defRPr sz="4800">
                <a:latin typeface="Crimson Text"/>
                <a:ea typeface="Crimson Text"/>
                <a:cs typeface="Crimson Text"/>
                <a:sym typeface="Crimson Tex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16" name="Google Shape;116;p1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1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56" name="Google Shape;156;p2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" name="Google Shape;158;p21"/>
          <p:cNvCxnSpPr/>
          <p:nvPr/>
        </p:nvCxnSpPr>
        <p:spPr>
          <a:xfrm>
            <a:off x="7207350" y="-153175"/>
            <a:ext cx="2120400" cy="12738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6"/>
          <p:cNvSpPr txBox="1">
            <a:spLocks noGrp="1"/>
          </p:cNvSpPr>
          <p:nvPr>
            <p:ph type="title"/>
          </p:nvPr>
        </p:nvSpPr>
        <p:spPr>
          <a:xfrm>
            <a:off x="4956100" y="2467375"/>
            <a:ext cx="2475300" cy="64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4" name="Google Shape;194;p26"/>
          <p:cNvSpPr txBox="1">
            <a:spLocks noGrp="1"/>
          </p:cNvSpPr>
          <p:nvPr>
            <p:ph type="title" idx="2" hasCustomPrompt="1"/>
          </p:nvPr>
        </p:nvSpPr>
        <p:spPr>
          <a:xfrm>
            <a:off x="4956100" y="1402325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 b="1"/>
            </a:lvl9pPr>
          </a:lstStyle>
          <a:p>
            <a:r>
              <a:t>xx%</a:t>
            </a:r>
          </a:p>
        </p:txBody>
      </p:sp>
      <p:sp>
        <p:nvSpPr>
          <p:cNvPr id="195" name="Google Shape;195;p26"/>
          <p:cNvSpPr txBox="1">
            <a:spLocks noGrp="1"/>
          </p:cNvSpPr>
          <p:nvPr>
            <p:ph type="subTitle" idx="1"/>
          </p:nvPr>
        </p:nvSpPr>
        <p:spPr>
          <a:xfrm>
            <a:off x="4956100" y="3116275"/>
            <a:ext cx="2475300" cy="62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96" name="Google Shape;196;p2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2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26"/>
          <p:cNvCxnSpPr/>
          <p:nvPr/>
        </p:nvCxnSpPr>
        <p:spPr>
          <a:xfrm>
            <a:off x="-209600" y="2402450"/>
            <a:ext cx="3144300" cy="27897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2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>
            <a:spLocks noGrp="1"/>
          </p:cNvSpPr>
          <p:nvPr>
            <p:ph type="title"/>
          </p:nvPr>
        </p:nvSpPr>
        <p:spPr>
          <a:xfrm>
            <a:off x="5310925" y="962565"/>
            <a:ext cx="3123000" cy="22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"/>
          </p:nvPr>
        </p:nvSpPr>
        <p:spPr>
          <a:xfrm>
            <a:off x="5310925" y="3400935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cxnSp>
        <p:nvCxnSpPr>
          <p:cNvPr id="218" name="Google Shape;218;p2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2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9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9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9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9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36"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>
            <a:spLocks noGrp="1"/>
          </p:cNvSpPr>
          <p:nvPr>
            <p:ph type="subTitle" idx="1"/>
          </p:nvPr>
        </p:nvSpPr>
        <p:spPr>
          <a:xfrm>
            <a:off x="3571925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subTitle" idx="2"/>
          </p:nvPr>
        </p:nvSpPr>
        <p:spPr>
          <a:xfrm>
            <a:off x="3571925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p36"/>
          <p:cNvSpPr txBox="1">
            <a:spLocks noGrp="1"/>
          </p:cNvSpPr>
          <p:nvPr>
            <p:ph type="subTitle" idx="3"/>
          </p:nvPr>
        </p:nvSpPr>
        <p:spPr>
          <a:xfrm>
            <a:off x="108840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08" name="Google Shape;308;p36"/>
          <p:cNvSpPr txBox="1">
            <a:spLocks noGrp="1"/>
          </p:cNvSpPr>
          <p:nvPr>
            <p:ph type="subTitle" idx="4"/>
          </p:nvPr>
        </p:nvSpPr>
        <p:spPr>
          <a:xfrm>
            <a:off x="108840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36"/>
          <p:cNvSpPr txBox="1">
            <a:spLocks noGrp="1"/>
          </p:cNvSpPr>
          <p:nvPr>
            <p:ph type="subTitle" idx="5"/>
          </p:nvPr>
        </p:nvSpPr>
        <p:spPr>
          <a:xfrm>
            <a:off x="605545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idaloka"/>
              <a:buNone/>
              <a:defRPr sz="24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endParaRPr/>
          </a:p>
        </p:txBody>
      </p:sp>
      <p:sp>
        <p:nvSpPr>
          <p:cNvPr id="310" name="Google Shape;310;p36"/>
          <p:cNvSpPr txBox="1">
            <a:spLocks noGrp="1"/>
          </p:cNvSpPr>
          <p:nvPr>
            <p:ph type="subTitle" idx="6"/>
          </p:nvPr>
        </p:nvSpPr>
        <p:spPr>
          <a:xfrm>
            <a:off x="605545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3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517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Merriweather Light"/>
                <a:ea typeface="Merriweather Light"/>
                <a:cs typeface="Merriweather Light"/>
                <a:sym typeface="Merriweather Light"/>
              </a:defRPr>
            </a:lvl9pPr>
          </a:lstStyle>
          <a:p>
            <a:endParaRPr/>
          </a:p>
        </p:txBody>
      </p:sp>
      <p:cxnSp>
        <p:nvCxnSpPr>
          <p:cNvPr id="312" name="Google Shape;312;p3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3" name="Google Shape;313;p3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" name="Google Shape;314;p36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7_1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43"/>
          <p:cNvSpPr txBox="1">
            <a:spLocks noGrp="1"/>
          </p:cNvSpPr>
          <p:nvPr>
            <p:ph type="title"/>
          </p:nvPr>
        </p:nvSpPr>
        <p:spPr>
          <a:xfrm>
            <a:off x="803750" y="2040496"/>
            <a:ext cx="4087500" cy="6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ubTitle" idx="1"/>
          </p:nvPr>
        </p:nvSpPr>
        <p:spPr>
          <a:xfrm>
            <a:off x="803750" y="2693525"/>
            <a:ext cx="3159300" cy="55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98" name="Google Shape;398;p4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9" name="Google Shape;399;p4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9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2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5" r:id="rId5"/>
    <p:sldLayoutId id="2147483656" r:id="rId6"/>
    <p:sldLayoutId id="2147483658" r:id="rId7"/>
    <p:sldLayoutId id="2147483659" r:id="rId8"/>
    <p:sldLayoutId id="2147483661" r:id="rId9"/>
    <p:sldLayoutId id="2147483667" r:id="rId10"/>
    <p:sldLayoutId id="2147483672" r:id="rId11"/>
    <p:sldLayoutId id="2147483675" r:id="rId12"/>
    <p:sldLayoutId id="2147483682" r:id="rId13"/>
    <p:sldLayoutId id="2147483689" r:id="rId14"/>
    <p:sldLayoutId id="2147483696" r:id="rId15"/>
    <p:sldLayoutId id="2147483697" r:id="rId16"/>
    <p:sldLayoutId id="2147483698" r:id="rId17"/>
    <p:sldLayoutId id="2147483699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Voting App</a:t>
            </a:r>
            <a:endParaRPr dirty="0"/>
          </a:p>
        </p:txBody>
      </p:sp>
      <p:sp>
        <p:nvSpPr>
          <p:cNvPr id="483" name="Google Shape;483;p59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Daniel Jessner, 4AHINF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4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6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3583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495" name="Google Shape;495;p61"/>
          <p:cNvSpPr txBox="1">
            <a:spLocks noGrp="1"/>
          </p:cNvSpPr>
          <p:nvPr>
            <p:ph type="subTitle" idx="3"/>
          </p:nvPr>
        </p:nvSpPr>
        <p:spPr>
          <a:xfrm>
            <a:off x="16552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1"/>
          </p:nvPr>
        </p:nvSpPr>
        <p:spPr>
          <a:xfrm>
            <a:off x="5001000" y="1942925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Implementation</a:t>
            </a:r>
            <a:endParaRPr dirty="0"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2"/>
          </p:nvPr>
        </p:nvSpPr>
        <p:spPr>
          <a:xfrm>
            <a:off x="5001000" y="2255100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C# ; Java Spring Boot ; HTML, CSS, JS</a:t>
            </a:r>
            <a:endParaRPr dirty="0"/>
          </a:p>
        </p:txBody>
      </p:sp>
      <p:sp>
        <p:nvSpPr>
          <p:cNvPr id="499" name="Google Shape;499;p61"/>
          <p:cNvSpPr txBox="1">
            <a:spLocks noGrp="1"/>
          </p:cNvSpPr>
          <p:nvPr>
            <p:ph type="subTitle" idx="5"/>
          </p:nvPr>
        </p:nvSpPr>
        <p:spPr>
          <a:xfrm>
            <a:off x="50010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500" name="Google Shape;500;p61"/>
          <p:cNvSpPr txBox="1">
            <a:spLocks noGrp="1"/>
          </p:cNvSpPr>
          <p:nvPr>
            <p:ph type="subTitle" idx="6"/>
          </p:nvPr>
        </p:nvSpPr>
        <p:spPr>
          <a:xfrm>
            <a:off x="500100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Summary, Future</a:t>
            </a:r>
            <a:endParaRPr dirty="0"/>
          </a:p>
        </p:txBody>
      </p:sp>
      <p:sp>
        <p:nvSpPr>
          <p:cNvPr id="501" name="Google Shape;501;p61"/>
          <p:cNvSpPr txBox="1">
            <a:spLocks noGrp="1"/>
          </p:cNvSpPr>
          <p:nvPr>
            <p:ph type="subTitle" idx="7"/>
          </p:nvPr>
        </p:nvSpPr>
        <p:spPr>
          <a:xfrm>
            <a:off x="1655200" y="3723950"/>
            <a:ext cx="2486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Problems</a:t>
            </a:r>
            <a:endParaRPr dirty="0"/>
          </a:p>
        </p:txBody>
      </p:sp>
      <p:sp>
        <p:nvSpPr>
          <p:cNvPr id="502" name="Google Shape;502;p61"/>
          <p:cNvSpPr txBox="1">
            <a:spLocks noGrp="1"/>
          </p:cNvSpPr>
          <p:nvPr>
            <p:ph type="subTitle" idx="8"/>
          </p:nvPr>
        </p:nvSpPr>
        <p:spPr>
          <a:xfrm>
            <a:off x="1655250" y="4036125"/>
            <a:ext cx="24861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What didn‘t go as planned?</a:t>
            </a:r>
            <a:endParaRPr dirty="0"/>
          </a:p>
        </p:txBody>
      </p:sp>
      <p:sp>
        <p:nvSpPr>
          <p:cNvPr id="503" name="Google Shape;503;p61"/>
          <p:cNvSpPr txBox="1">
            <a:spLocks noGrp="1"/>
          </p:cNvSpPr>
          <p:nvPr>
            <p:ph type="title" idx="9"/>
          </p:nvPr>
        </p:nvSpPr>
        <p:spPr>
          <a:xfrm>
            <a:off x="23786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04" name="Google Shape;504;p61"/>
          <p:cNvSpPr txBox="1">
            <a:spLocks noGrp="1"/>
          </p:cNvSpPr>
          <p:nvPr>
            <p:ph type="title" idx="13"/>
          </p:nvPr>
        </p:nvSpPr>
        <p:spPr>
          <a:xfrm>
            <a:off x="5724450" y="130358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 dirty="0"/>
          </a:p>
        </p:txBody>
      </p:sp>
      <p:sp>
        <p:nvSpPr>
          <p:cNvPr id="505" name="Google Shape;505;p61"/>
          <p:cNvSpPr txBox="1">
            <a:spLocks noGrp="1"/>
          </p:cNvSpPr>
          <p:nvPr>
            <p:ph type="title" idx="14"/>
          </p:nvPr>
        </p:nvSpPr>
        <p:spPr>
          <a:xfrm>
            <a:off x="237870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 dirty="0"/>
          </a:p>
        </p:txBody>
      </p:sp>
      <p:sp>
        <p:nvSpPr>
          <p:cNvPr id="506" name="Google Shape;506;p61"/>
          <p:cNvSpPr txBox="1">
            <a:spLocks noGrp="1"/>
          </p:cNvSpPr>
          <p:nvPr>
            <p:ph type="title" idx="15"/>
          </p:nvPr>
        </p:nvSpPr>
        <p:spPr>
          <a:xfrm>
            <a:off x="5724450" y="3082738"/>
            <a:ext cx="1039200" cy="66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 dirty="0"/>
          </a:p>
        </p:txBody>
      </p:sp>
      <p:sp>
        <p:nvSpPr>
          <p:cNvPr id="2" name="Google Shape;497;p61">
            <a:extLst>
              <a:ext uri="{FF2B5EF4-FFF2-40B4-BE49-F238E27FC236}">
                <a16:creationId xmlns:a16="http://schemas.microsoft.com/office/drawing/2014/main" id="{020979FA-4CC3-49BD-5C16-9628535603AB}"/>
              </a:ext>
            </a:extLst>
          </p:cNvPr>
          <p:cNvSpPr txBox="1">
            <a:spLocks/>
          </p:cNvSpPr>
          <p:nvPr/>
        </p:nvSpPr>
        <p:spPr>
          <a:xfrm>
            <a:off x="1655200" y="2224976"/>
            <a:ext cx="24861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de-DE" dirty="0"/>
              <a:t>What is the Voting App?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3"/>
          <p:cNvSpPr txBox="1">
            <a:spLocks noGrp="1"/>
          </p:cNvSpPr>
          <p:nvPr>
            <p:ph type="title"/>
          </p:nvPr>
        </p:nvSpPr>
        <p:spPr>
          <a:xfrm>
            <a:off x="2410500" y="2808253"/>
            <a:ext cx="4323000" cy="49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—Lao Tse</a:t>
            </a:r>
            <a:endParaRPr dirty="0"/>
          </a:p>
        </p:txBody>
      </p:sp>
      <p:sp>
        <p:nvSpPr>
          <p:cNvPr id="535" name="Google Shape;535;p63"/>
          <p:cNvSpPr txBox="1">
            <a:spLocks noGrp="1"/>
          </p:cNvSpPr>
          <p:nvPr>
            <p:ph type="subTitle" idx="1"/>
          </p:nvPr>
        </p:nvSpPr>
        <p:spPr>
          <a:xfrm>
            <a:off x="1842900" y="1661963"/>
            <a:ext cx="5458200" cy="9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de-DE" dirty="0"/>
              <a:t>„</a:t>
            </a:r>
            <a:r>
              <a:rPr lang="en-US" dirty="0"/>
              <a:t>Only those who know their destination will find the way."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5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Similarities: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US" dirty="0"/>
              <a:t> Make private asking sessions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dirty="0"/>
              <a:t> Gather voting information fast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 Visualize results</a:t>
            </a:r>
            <a:endParaRPr lang="en-US" dirty="0"/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lang="en-US" dirty="0"/>
          </a:p>
        </p:txBody>
      </p:sp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Personal Intention</a:t>
            </a:r>
            <a:endParaRPr dirty="0"/>
          </a:p>
        </p:txBody>
      </p:sp>
      <p:pic>
        <p:nvPicPr>
          <p:cNvPr id="1026" name="Picture 2" descr="Engage with Kahoot! – Instructional Development">
            <a:extLst>
              <a:ext uri="{FF2B5EF4-FFF2-40B4-BE49-F238E27FC236}">
                <a16:creationId xmlns:a16="http://schemas.microsoft.com/office/drawing/2014/main" id="{90DB204A-0C81-93B5-1947-30160B467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2456" y="1682000"/>
            <a:ext cx="4000633" cy="2250356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99ED6B3-A542-D3C5-CB9B-F5087ED7CECC}"/>
              </a:ext>
            </a:extLst>
          </p:cNvPr>
          <p:cNvSpPr txBox="1"/>
          <p:nvPr/>
        </p:nvSpPr>
        <p:spPr>
          <a:xfrm>
            <a:off x="4828636" y="3942357"/>
            <a:ext cx="2517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Image 1 – Kahoot Logo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69"/>
          <p:cNvSpPr txBox="1">
            <a:spLocks noGrp="1"/>
          </p:cNvSpPr>
          <p:nvPr>
            <p:ph type="title"/>
          </p:nvPr>
        </p:nvSpPr>
        <p:spPr>
          <a:xfrm>
            <a:off x="2714550" y="2366272"/>
            <a:ext cx="3714900" cy="8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 dirty="0"/>
          </a:p>
        </p:txBody>
      </p:sp>
      <p:sp>
        <p:nvSpPr>
          <p:cNvPr id="573" name="Google Shape;573;p69"/>
          <p:cNvSpPr txBox="1">
            <a:spLocks noGrp="1"/>
          </p:cNvSpPr>
          <p:nvPr>
            <p:ph type="title" idx="2"/>
          </p:nvPr>
        </p:nvSpPr>
        <p:spPr>
          <a:xfrm>
            <a:off x="3746550" y="133916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 dirty="0"/>
          </a:p>
        </p:txBody>
      </p:sp>
      <p:sp>
        <p:nvSpPr>
          <p:cNvPr id="574" name="Google Shape;574;p69"/>
          <p:cNvSpPr txBox="1">
            <a:spLocks noGrp="1"/>
          </p:cNvSpPr>
          <p:nvPr>
            <p:ph type="subTitle" idx="1"/>
          </p:nvPr>
        </p:nvSpPr>
        <p:spPr>
          <a:xfrm>
            <a:off x="2291400" y="3076675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What is the Voting App?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7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6327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Voting App</a:t>
            </a:r>
            <a:endParaRPr dirty="0"/>
          </a:p>
        </p:txBody>
      </p:sp>
      <p:sp>
        <p:nvSpPr>
          <p:cNvPr id="620" name="Google Shape;620;p73"/>
          <p:cNvSpPr txBox="1">
            <a:spLocks noGrp="1"/>
          </p:cNvSpPr>
          <p:nvPr>
            <p:ph type="subTitle" idx="1"/>
          </p:nvPr>
        </p:nvSpPr>
        <p:spPr>
          <a:xfrm>
            <a:off x="1496024" y="3194564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Session System</a:t>
            </a:r>
            <a:endParaRPr dirty="0"/>
          </a:p>
        </p:txBody>
      </p:sp>
      <p:sp>
        <p:nvSpPr>
          <p:cNvPr id="621" name="Google Shape;621;p73"/>
          <p:cNvSpPr txBox="1">
            <a:spLocks noGrp="1"/>
          </p:cNvSpPr>
          <p:nvPr>
            <p:ph type="subTitle" idx="2"/>
          </p:nvPr>
        </p:nvSpPr>
        <p:spPr>
          <a:xfrm>
            <a:off x="1496024" y="3604315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Create </a:t>
            </a:r>
            <a:r>
              <a:rPr lang="de-DE" noProof="1"/>
              <a:t>voting</a:t>
            </a:r>
            <a:r>
              <a:rPr lang="de-DE" dirty="0"/>
              <a:t> </a:t>
            </a:r>
            <a:r>
              <a:rPr lang="en-US" dirty="0"/>
              <a:t>sessions</a:t>
            </a:r>
            <a:r>
              <a:rPr lang="de-DE" dirty="0"/>
              <a:t>, store them in your account and start them whenever you want.</a:t>
            </a:r>
            <a:endParaRPr dirty="0"/>
          </a:p>
        </p:txBody>
      </p:sp>
      <p:sp>
        <p:nvSpPr>
          <p:cNvPr id="622" name="Google Shape;622;p73"/>
          <p:cNvSpPr txBox="1">
            <a:spLocks noGrp="1"/>
          </p:cNvSpPr>
          <p:nvPr>
            <p:ph type="subTitle" idx="3"/>
          </p:nvPr>
        </p:nvSpPr>
        <p:spPr>
          <a:xfrm>
            <a:off x="1496024" y="1579991"/>
            <a:ext cx="2486100" cy="5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User System</a:t>
            </a:r>
            <a:endParaRPr dirty="0"/>
          </a:p>
        </p:txBody>
      </p:sp>
      <p:sp>
        <p:nvSpPr>
          <p:cNvPr id="623" name="Google Shape;623;p73"/>
          <p:cNvSpPr txBox="1">
            <a:spLocks noGrp="1"/>
          </p:cNvSpPr>
          <p:nvPr>
            <p:ph type="subTitle" idx="4"/>
          </p:nvPr>
        </p:nvSpPr>
        <p:spPr>
          <a:xfrm>
            <a:off x="1496024" y="2003721"/>
            <a:ext cx="24861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Log in or register with a personal user.</a:t>
            </a:r>
          </a:p>
        </p:txBody>
      </p:sp>
      <p:grpSp>
        <p:nvGrpSpPr>
          <p:cNvPr id="628" name="Google Shape;628;p73"/>
          <p:cNvGrpSpPr/>
          <p:nvPr/>
        </p:nvGrpSpPr>
        <p:grpSpPr>
          <a:xfrm>
            <a:off x="2596745" y="2790955"/>
            <a:ext cx="282707" cy="392844"/>
            <a:chOff x="-64001300" y="4093650"/>
            <a:chExt cx="228450" cy="317450"/>
          </a:xfrm>
        </p:grpSpPr>
        <p:sp>
          <p:nvSpPr>
            <p:cNvPr id="629" name="Google Shape;629;p73"/>
            <p:cNvSpPr/>
            <p:nvPr/>
          </p:nvSpPr>
          <p:spPr>
            <a:xfrm>
              <a:off x="-63933550" y="4328375"/>
              <a:ext cx="93750" cy="40975"/>
            </a:xfrm>
            <a:custGeom>
              <a:avLst/>
              <a:gdLst/>
              <a:ahLst/>
              <a:cxnLst/>
              <a:rect l="l" t="t" r="r" b="b"/>
              <a:pathLst>
                <a:path w="3750" h="1639" extrusionOk="0">
                  <a:moveTo>
                    <a:pt x="1859" y="0"/>
                  </a:moveTo>
                  <a:cubicBezTo>
                    <a:pt x="1009" y="0"/>
                    <a:pt x="315" y="662"/>
                    <a:pt x="0" y="1638"/>
                  </a:cubicBezTo>
                  <a:lnTo>
                    <a:pt x="3749" y="1638"/>
                  </a:lnTo>
                  <a:cubicBezTo>
                    <a:pt x="3434" y="662"/>
                    <a:pt x="2710" y="0"/>
                    <a:pt x="18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0" name="Google Shape;630;p73"/>
            <p:cNvSpPr/>
            <p:nvPr/>
          </p:nvSpPr>
          <p:spPr>
            <a:xfrm>
              <a:off x="-63980025" y="4135400"/>
              <a:ext cx="185900" cy="234725"/>
            </a:xfrm>
            <a:custGeom>
              <a:avLst/>
              <a:gdLst/>
              <a:ahLst/>
              <a:cxnLst/>
              <a:rect l="l" t="t" r="r" b="b"/>
              <a:pathLst>
                <a:path w="7436" h="9389" extrusionOk="0">
                  <a:moveTo>
                    <a:pt x="6617" y="1"/>
                  </a:moveTo>
                  <a:lnTo>
                    <a:pt x="6617" y="725"/>
                  </a:lnTo>
                  <a:cubicBezTo>
                    <a:pt x="6196" y="593"/>
                    <a:pt x="5771" y="530"/>
                    <a:pt x="5358" y="530"/>
                  </a:cubicBezTo>
                  <a:cubicBezTo>
                    <a:pt x="4686" y="530"/>
                    <a:pt x="4044" y="697"/>
                    <a:pt x="3498" y="1009"/>
                  </a:cubicBezTo>
                  <a:cubicBezTo>
                    <a:pt x="3103" y="1242"/>
                    <a:pt x="2617" y="1373"/>
                    <a:pt x="2085" y="1373"/>
                  </a:cubicBezTo>
                  <a:cubicBezTo>
                    <a:pt x="1683" y="1373"/>
                    <a:pt x="1254" y="1298"/>
                    <a:pt x="820" y="1135"/>
                  </a:cubicBezTo>
                  <a:lnTo>
                    <a:pt x="820" y="32"/>
                  </a:lnTo>
                  <a:lnTo>
                    <a:pt x="1" y="32"/>
                  </a:lnTo>
                  <a:lnTo>
                    <a:pt x="1" y="1418"/>
                  </a:lnTo>
                  <a:cubicBezTo>
                    <a:pt x="1" y="2867"/>
                    <a:pt x="820" y="4096"/>
                    <a:pt x="2017" y="4726"/>
                  </a:cubicBezTo>
                  <a:cubicBezTo>
                    <a:pt x="820" y="5356"/>
                    <a:pt x="1" y="6554"/>
                    <a:pt x="1" y="8034"/>
                  </a:cubicBezTo>
                  <a:lnTo>
                    <a:pt x="1" y="9389"/>
                  </a:lnTo>
                  <a:lnTo>
                    <a:pt x="820" y="9389"/>
                  </a:lnTo>
                  <a:lnTo>
                    <a:pt x="820" y="8034"/>
                  </a:lnTo>
                  <a:cubicBezTo>
                    <a:pt x="820" y="6396"/>
                    <a:pt x="2143" y="5104"/>
                    <a:pt x="3750" y="5104"/>
                  </a:cubicBezTo>
                  <a:cubicBezTo>
                    <a:pt x="5356" y="5104"/>
                    <a:pt x="6617" y="6396"/>
                    <a:pt x="6617" y="8034"/>
                  </a:cubicBezTo>
                  <a:lnTo>
                    <a:pt x="6617" y="9389"/>
                  </a:lnTo>
                  <a:lnTo>
                    <a:pt x="7436" y="9389"/>
                  </a:lnTo>
                  <a:lnTo>
                    <a:pt x="7436" y="9357"/>
                  </a:lnTo>
                  <a:lnTo>
                    <a:pt x="7436" y="7971"/>
                  </a:lnTo>
                  <a:cubicBezTo>
                    <a:pt x="7436" y="6522"/>
                    <a:pt x="6617" y="5293"/>
                    <a:pt x="5451" y="4663"/>
                  </a:cubicBezTo>
                  <a:cubicBezTo>
                    <a:pt x="6617" y="4033"/>
                    <a:pt x="7436" y="2836"/>
                    <a:pt x="7436" y="1355"/>
                  </a:cubicBezTo>
                  <a:lnTo>
                    <a:pt x="74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1" name="Google Shape;631;p73"/>
            <p:cNvSpPr/>
            <p:nvPr/>
          </p:nvSpPr>
          <p:spPr>
            <a:xfrm>
              <a:off x="-64001300" y="4389800"/>
              <a:ext cx="228450" cy="21300"/>
            </a:xfrm>
            <a:custGeom>
              <a:avLst/>
              <a:gdLst/>
              <a:ahLst/>
              <a:cxnLst/>
              <a:rect l="l" t="t" r="r" b="b"/>
              <a:pathLst>
                <a:path w="9138" h="852" extrusionOk="0">
                  <a:moveTo>
                    <a:pt x="411" y="1"/>
                  </a:moveTo>
                  <a:cubicBezTo>
                    <a:pt x="190" y="1"/>
                    <a:pt x="1" y="221"/>
                    <a:pt x="1" y="410"/>
                  </a:cubicBezTo>
                  <a:cubicBezTo>
                    <a:pt x="1" y="631"/>
                    <a:pt x="190" y="851"/>
                    <a:pt x="411" y="851"/>
                  </a:cubicBezTo>
                  <a:lnTo>
                    <a:pt x="8696" y="851"/>
                  </a:lnTo>
                  <a:cubicBezTo>
                    <a:pt x="8917" y="851"/>
                    <a:pt x="9074" y="631"/>
                    <a:pt x="9074" y="410"/>
                  </a:cubicBezTo>
                  <a:cubicBezTo>
                    <a:pt x="9137" y="221"/>
                    <a:pt x="8917" y="1"/>
                    <a:pt x="86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2" name="Google Shape;632;p73"/>
            <p:cNvSpPr/>
            <p:nvPr/>
          </p:nvSpPr>
          <p:spPr>
            <a:xfrm>
              <a:off x="-64001300" y="4093650"/>
              <a:ext cx="226875" cy="20500"/>
            </a:xfrm>
            <a:custGeom>
              <a:avLst/>
              <a:gdLst/>
              <a:ahLst/>
              <a:cxnLst/>
              <a:rect l="l" t="t" r="r" b="b"/>
              <a:pathLst>
                <a:path w="9075" h="820" extrusionOk="0">
                  <a:moveTo>
                    <a:pt x="411" y="1"/>
                  </a:moveTo>
                  <a:cubicBezTo>
                    <a:pt x="190" y="1"/>
                    <a:pt x="1" y="190"/>
                    <a:pt x="1" y="410"/>
                  </a:cubicBezTo>
                  <a:cubicBezTo>
                    <a:pt x="32" y="631"/>
                    <a:pt x="190" y="820"/>
                    <a:pt x="411" y="820"/>
                  </a:cubicBezTo>
                  <a:lnTo>
                    <a:pt x="8696" y="820"/>
                  </a:lnTo>
                  <a:cubicBezTo>
                    <a:pt x="8917" y="820"/>
                    <a:pt x="9074" y="631"/>
                    <a:pt x="9074" y="410"/>
                  </a:cubicBezTo>
                  <a:cubicBezTo>
                    <a:pt x="9074" y="158"/>
                    <a:pt x="8885" y="1"/>
                    <a:pt x="86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pic>
        <p:nvPicPr>
          <p:cNvPr id="3" name="Grafik 2">
            <a:extLst>
              <a:ext uri="{FF2B5EF4-FFF2-40B4-BE49-F238E27FC236}">
                <a16:creationId xmlns:a16="http://schemas.microsoft.com/office/drawing/2014/main" id="{1A83D7C1-2224-43DA-A2FE-CD1EDC986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874" y="1161054"/>
            <a:ext cx="392400" cy="392400"/>
          </a:xfrm>
          <a:prstGeom prst="rect">
            <a:avLst/>
          </a:prstGeom>
        </p:spPr>
      </p:pic>
      <p:sp>
        <p:nvSpPr>
          <p:cNvPr id="11" name="Google Shape;620;p73">
            <a:extLst>
              <a:ext uri="{FF2B5EF4-FFF2-40B4-BE49-F238E27FC236}">
                <a16:creationId xmlns:a16="http://schemas.microsoft.com/office/drawing/2014/main" id="{99FD4B4F-689E-9E44-D887-D001AA4299C0}"/>
              </a:ext>
            </a:extLst>
          </p:cNvPr>
          <p:cNvSpPr txBox="1">
            <a:spLocks/>
          </p:cNvSpPr>
          <p:nvPr/>
        </p:nvSpPr>
        <p:spPr>
          <a:xfrm>
            <a:off x="4768200" y="1562330"/>
            <a:ext cx="2486100" cy="5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0" i="0" u="none" strike="noStrike" cap="none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pPr marL="0" indent="0"/>
            <a:r>
              <a:rPr lang="de-AT" dirty="0"/>
              <a:t>Code System</a:t>
            </a:r>
          </a:p>
        </p:txBody>
      </p:sp>
      <p:sp>
        <p:nvSpPr>
          <p:cNvPr id="12" name="Google Shape;621;p73">
            <a:extLst>
              <a:ext uri="{FF2B5EF4-FFF2-40B4-BE49-F238E27FC236}">
                <a16:creationId xmlns:a16="http://schemas.microsoft.com/office/drawing/2014/main" id="{470733DA-C2F1-336F-5F58-3624EE5A903A}"/>
              </a:ext>
            </a:extLst>
          </p:cNvPr>
          <p:cNvSpPr txBox="1">
            <a:spLocks/>
          </p:cNvSpPr>
          <p:nvPr/>
        </p:nvSpPr>
        <p:spPr>
          <a:xfrm>
            <a:off x="4768200" y="1972081"/>
            <a:ext cx="2632776" cy="9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en-US" dirty="0"/>
              <a:t>Give the random generated session code to people you want to join.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BCFB7488-8699-21FA-592B-7FC67B662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050" y="1159165"/>
            <a:ext cx="392400" cy="392400"/>
          </a:xfrm>
          <a:prstGeom prst="rect">
            <a:avLst/>
          </a:prstGeom>
        </p:spPr>
      </p:pic>
      <p:sp>
        <p:nvSpPr>
          <p:cNvPr id="27" name="Google Shape;620;p73">
            <a:extLst>
              <a:ext uri="{FF2B5EF4-FFF2-40B4-BE49-F238E27FC236}">
                <a16:creationId xmlns:a16="http://schemas.microsoft.com/office/drawing/2014/main" id="{0D727F97-6BA5-D625-C32A-96609E47E16D}"/>
              </a:ext>
            </a:extLst>
          </p:cNvPr>
          <p:cNvSpPr txBox="1">
            <a:spLocks/>
          </p:cNvSpPr>
          <p:nvPr/>
        </p:nvSpPr>
        <p:spPr>
          <a:xfrm>
            <a:off x="4768200" y="3132134"/>
            <a:ext cx="2486100" cy="5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0" i="0" u="none" strike="noStrike" cap="none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Vidaloka"/>
              <a:buNone/>
              <a:defRPr sz="2400" b="1" i="0" u="none" strike="noStrike" cap="none">
                <a:solidFill>
                  <a:schemeClr val="dk2"/>
                </a:solidFill>
                <a:latin typeface="Vidaloka"/>
                <a:ea typeface="Vidaloka"/>
                <a:cs typeface="Vidaloka"/>
                <a:sym typeface="Vidaloka"/>
              </a:defRPr>
            </a:lvl9pPr>
          </a:lstStyle>
          <a:p>
            <a:pPr marL="0" indent="0"/>
            <a:r>
              <a:rPr lang="de-AT" dirty="0"/>
              <a:t>Visualization</a:t>
            </a:r>
          </a:p>
        </p:txBody>
      </p:sp>
      <p:sp>
        <p:nvSpPr>
          <p:cNvPr id="28" name="Google Shape;621;p73">
            <a:extLst>
              <a:ext uri="{FF2B5EF4-FFF2-40B4-BE49-F238E27FC236}">
                <a16:creationId xmlns:a16="http://schemas.microsoft.com/office/drawing/2014/main" id="{B58DE0E2-B953-96C5-7418-B0A5FEA86271}"/>
              </a:ext>
            </a:extLst>
          </p:cNvPr>
          <p:cNvSpPr txBox="1">
            <a:spLocks/>
          </p:cNvSpPr>
          <p:nvPr/>
        </p:nvSpPr>
        <p:spPr>
          <a:xfrm>
            <a:off x="4768200" y="3541885"/>
            <a:ext cx="2486100" cy="9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en-US" dirty="0"/>
              <a:t>Visualize the gathered results in both web and desktop.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C1E905D-7D5E-7ED9-4C93-15CF8B06A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5050" y="2797402"/>
            <a:ext cx="392400" cy="392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4000" b="-14000"/>
          </a:stretch>
        </a:blipFill>
        <a:effectLst/>
      </p:bgPr>
    </p:bg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7EAB86AB-B7C6-8D40-5B12-DE894F21F8CA}"/>
              </a:ext>
            </a:extLst>
          </p:cNvPr>
          <p:cNvSpPr txBox="1"/>
          <p:nvPr/>
        </p:nvSpPr>
        <p:spPr>
          <a:xfrm>
            <a:off x="0" y="4897279"/>
            <a:ext cx="2517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Figure 2 – Voting App Login Page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81"/>
          <p:cNvSpPr txBox="1">
            <a:spLocks noGrp="1"/>
          </p:cNvSpPr>
          <p:nvPr>
            <p:ph type="title"/>
          </p:nvPr>
        </p:nvSpPr>
        <p:spPr>
          <a:xfrm>
            <a:off x="4956100" y="2467375"/>
            <a:ext cx="3578300" cy="64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Implementation</a:t>
            </a:r>
            <a:endParaRPr dirty="0"/>
          </a:p>
        </p:txBody>
      </p:sp>
      <p:sp>
        <p:nvSpPr>
          <p:cNvPr id="703" name="Google Shape;703;p81"/>
          <p:cNvSpPr txBox="1">
            <a:spLocks noGrp="1"/>
          </p:cNvSpPr>
          <p:nvPr>
            <p:ph type="title" idx="2"/>
          </p:nvPr>
        </p:nvSpPr>
        <p:spPr>
          <a:xfrm>
            <a:off x="4956100" y="1402325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 dirty="0"/>
          </a:p>
        </p:txBody>
      </p:sp>
      <p:sp>
        <p:nvSpPr>
          <p:cNvPr id="704" name="Google Shape;704;p81"/>
          <p:cNvSpPr txBox="1">
            <a:spLocks noGrp="1"/>
          </p:cNvSpPr>
          <p:nvPr>
            <p:ph type="subTitle" idx="1"/>
          </p:nvPr>
        </p:nvSpPr>
        <p:spPr>
          <a:xfrm>
            <a:off x="4956100" y="3116275"/>
            <a:ext cx="2475300" cy="62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de-DE" dirty="0"/>
              <a:t>C# ; Java Spring Boot ; HTML, CSS, JS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050" name="Picture 2" descr="Java Spring Boot — Intro. First of all, Spring Boot consists of… | by  mnaufalazwar | Medium">
            <a:extLst>
              <a:ext uri="{FF2B5EF4-FFF2-40B4-BE49-F238E27FC236}">
                <a16:creationId xmlns:a16="http://schemas.microsoft.com/office/drawing/2014/main" id="{D9726ACA-4EF7-06F1-1FB2-854B6CEB2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525" y="558710"/>
            <a:ext cx="2254475" cy="1183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Icon Request: fa-javascript OR fa-js · Issue #11419 ·  FortAwesome/Font-Awesome · GitHub">
            <a:extLst>
              <a:ext uri="{FF2B5EF4-FFF2-40B4-BE49-F238E27FC236}">
                <a16:creationId xmlns:a16="http://schemas.microsoft.com/office/drawing/2014/main" id="{349427A4-8176-86EC-FA3E-E9EA5249B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6931" y="1742309"/>
            <a:ext cx="2475070" cy="1450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 Sharp (C#) &quot; Icon - Download for free – Iconduck">
            <a:extLst>
              <a:ext uri="{FF2B5EF4-FFF2-40B4-BE49-F238E27FC236}">
                <a16:creationId xmlns:a16="http://schemas.microsoft.com/office/drawing/2014/main" id="{ECEE6866-B38E-3C94-AF34-F3DDE7243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160" y="3320320"/>
            <a:ext cx="1106611" cy="1244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564294-CCE7-2EC5-CCFE-2E71FC901277}"/>
              </a:ext>
            </a:extLst>
          </p:cNvPr>
          <p:cNvSpPr txBox="1"/>
          <p:nvPr/>
        </p:nvSpPr>
        <p:spPr>
          <a:xfrm>
            <a:off x="2317525" y="1619198"/>
            <a:ext cx="2517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Figure 3 – Spring Boot Logo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4593907-F59C-CEF7-8D69-68A41DFE6B37}"/>
              </a:ext>
            </a:extLst>
          </p:cNvPr>
          <p:cNvSpPr txBox="1"/>
          <p:nvPr/>
        </p:nvSpPr>
        <p:spPr>
          <a:xfrm>
            <a:off x="2317525" y="3049018"/>
            <a:ext cx="2517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Figure 4 – HTML, CSS, JS Logo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7461048-B4B7-611E-EF54-A63B034E9A2F}"/>
              </a:ext>
            </a:extLst>
          </p:cNvPr>
          <p:cNvSpPr txBox="1"/>
          <p:nvPr/>
        </p:nvSpPr>
        <p:spPr>
          <a:xfrm>
            <a:off x="2317525" y="4584790"/>
            <a:ext cx="2517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Figure 5 – C# Logo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88"/>
          <p:cNvSpPr txBox="1">
            <a:spLocks noGrp="1"/>
          </p:cNvSpPr>
          <p:nvPr>
            <p:ph type="title"/>
          </p:nvPr>
        </p:nvSpPr>
        <p:spPr>
          <a:xfrm>
            <a:off x="5310925" y="962565"/>
            <a:ext cx="3123000" cy="11773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App Architecture</a:t>
            </a:r>
            <a:endParaRPr dirty="0"/>
          </a:p>
        </p:txBody>
      </p:sp>
      <p:sp>
        <p:nvSpPr>
          <p:cNvPr id="872" name="Google Shape;872;p88"/>
          <p:cNvSpPr txBox="1">
            <a:spLocks noGrp="1"/>
          </p:cNvSpPr>
          <p:nvPr>
            <p:ph type="subTitle" idx="1"/>
          </p:nvPr>
        </p:nvSpPr>
        <p:spPr>
          <a:xfrm>
            <a:off x="5310925" y="2223551"/>
            <a:ext cx="3013500" cy="7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Backend:</a:t>
            </a:r>
          </a:p>
          <a:p>
            <a:pPr marL="0" lvl="0" indent="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	- Java Spring Boot</a:t>
            </a:r>
          </a:p>
          <a:p>
            <a:pPr marL="0" lvl="0" indent="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	- MongoDB</a:t>
            </a:r>
          </a:p>
          <a:p>
            <a:pPr marL="0" lvl="0" indent="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Frontend:</a:t>
            </a:r>
          </a:p>
          <a:p>
            <a:pPr marL="0" lvl="0" indent="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	- C# WPF</a:t>
            </a:r>
          </a:p>
          <a:p>
            <a:pPr marL="0" lvl="0" indent="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	- HTML, CSS, JS</a:t>
            </a:r>
          </a:p>
        </p:txBody>
      </p:sp>
      <p:pic>
        <p:nvPicPr>
          <p:cNvPr id="3" name="Grafik 2" descr="Ein Bild, das Screenshot, Text, Schrift, Reihe enthält.&#10;&#10;Automatisch generierte Beschreibung">
            <a:extLst>
              <a:ext uri="{FF2B5EF4-FFF2-40B4-BE49-F238E27FC236}">
                <a16:creationId xmlns:a16="http://schemas.microsoft.com/office/drawing/2014/main" id="{4E2F0B73-573B-7155-2745-D03E3161D33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0075" y="894397"/>
            <a:ext cx="4524953" cy="3354706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F04953-D97A-4810-3E49-F1D2838DB429}"/>
              </a:ext>
            </a:extLst>
          </p:cNvPr>
          <p:cNvSpPr txBox="1"/>
          <p:nvPr/>
        </p:nvSpPr>
        <p:spPr>
          <a:xfrm>
            <a:off x="710075" y="4267613"/>
            <a:ext cx="2517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Figure 6 – Voting App Architecture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8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8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1B60C-C49B-B241-934C-C2C3AA44BA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Model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C1AA34-B6D0-F9FD-1144-DA3293B1B0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Entities, DTOs</a:t>
            </a:r>
          </a:p>
        </p:txBody>
      </p:sp>
    </p:spTree>
    <p:extLst>
      <p:ext uri="{BB962C8B-B14F-4D97-AF65-F5344CB8AC3E}">
        <p14:creationId xmlns:p14="http://schemas.microsoft.com/office/powerpoint/2010/main" val="3809297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1B60C-C49B-B241-934C-C2C3AA44BA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API Endpoints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C1AA34-B6D0-F9FD-1144-DA3293B1B0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Create, Read, Update, Delete</a:t>
            </a:r>
          </a:p>
        </p:txBody>
      </p:sp>
    </p:spTree>
    <p:extLst>
      <p:ext uri="{BB962C8B-B14F-4D97-AF65-F5344CB8AC3E}">
        <p14:creationId xmlns:p14="http://schemas.microsoft.com/office/powerpoint/2010/main" val="3512206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69"/>
          <p:cNvSpPr txBox="1">
            <a:spLocks noGrp="1"/>
          </p:cNvSpPr>
          <p:nvPr>
            <p:ph type="title"/>
          </p:nvPr>
        </p:nvSpPr>
        <p:spPr>
          <a:xfrm>
            <a:off x="2714550" y="2366272"/>
            <a:ext cx="3714900" cy="8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Problems</a:t>
            </a:r>
            <a:endParaRPr dirty="0"/>
          </a:p>
        </p:txBody>
      </p:sp>
      <p:sp>
        <p:nvSpPr>
          <p:cNvPr id="573" name="Google Shape;573;p69"/>
          <p:cNvSpPr txBox="1">
            <a:spLocks noGrp="1"/>
          </p:cNvSpPr>
          <p:nvPr>
            <p:ph type="title" idx="2"/>
          </p:nvPr>
        </p:nvSpPr>
        <p:spPr>
          <a:xfrm>
            <a:off x="3746550" y="133916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74" name="Google Shape;574;p69"/>
          <p:cNvSpPr txBox="1">
            <a:spLocks noGrp="1"/>
          </p:cNvSpPr>
          <p:nvPr>
            <p:ph type="subTitle" idx="1"/>
          </p:nvPr>
        </p:nvSpPr>
        <p:spPr>
          <a:xfrm>
            <a:off x="2291400" y="3076675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What didn‘t go as planned?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2037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104"/>
          <p:cNvSpPr txBox="1">
            <a:spLocks noGrp="1"/>
          </p:cNvSpPr>
          <p:nvPr>
            <p:ph type="subTitle" idx="1"/>
          </p:nvPr>
        </p:nvSpPr>
        <p:spPr>
          <a:xfrm>
            <a:off x="3571924" y="2904446"/>
            <a:ext cx="2558711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Visualization</a:t>
            </a:r>
            <a:endParaRPr dirty="0"/>
          </a:p>
        </p:txBody>
      </p:sp>
      <p:sp>
        <p:nvSpPr>
          <p:cNvPr id="1274" name="Google Shape;1274;p104"/>
          <p:cNvSpPr txBox="1">
            <a:spLocks noGrp="1"/>
          </p:cNvSpPr>
          <p:nvPr>
            <p:ph type="subTitle" idx="2"/>
          </p:nvPr>
        </p:nvSpPr>
        <p:spPr>
          <a:xfrm>
            <a:off x="3571925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Bad </a:t>
            </a: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visualization</a:t>
            </a:r>
            <a:r>
              <a:rPr lang="de-DE" dirty="0"/>
              <a:t> </a:t>
            </a:r>
            <a:r>
              <a:rPr lang="de-DE" dirty="0" err="1"/>
              <a:t>package</a:t>
            </a:r>
            <a:endParaRPr dirty="0"/>
          </a:p>
        </p:txBody>
      </p:sp>
      <p:sp>
        <p:nvSpPr>
          <p:cNvPr id="1275" name="Google Shape;1275;p104"/>
          <p:cNvSpPr txBox="1">
            <a:spLocks noGrp="1"/>
          </p:cNvSpPr>
          <p:nvPr>
            <p:ph type="subTitle" idx="3"/>
          </p:nvPr>
        </p:nvSpPr>
        <p:spPr>
          <a:xfrm>
            <a:off x="108840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Model</a:t>
            </a:r>
            <a:endParaRPr dirty="0"/>
          </a:p>
        </p:txBody>
      </p:sp>
      <p:sp>
        <p:nvSpPr>
          <p:cNvPr id="1276" name="Google Shape;1276;p104"/>
          <p:cNvSpPr txBox="1">
            <a:spLocks noGrp="1"/>
          </p:cNvSpPr>
          <p:nvPr>
            <p:ph type="subTitle" idx="4"/>
          </p:nvPr>
        </p:nvSpPr>
        <p:spPr>
          <a:xfrm>
            <a:off x="108840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 err="1"/>
              <a:t>Too</a:t>
            </a:r>
            <a:r>
              <a:rPr lang="de-DE" dirty="0"/>
              <a:t> </a:t>
            </a:r>
            <a:r>
              <a:rPr lang="de-DE" dirty="0" err="1"/>
              <a:t>thin</a:t>
            </a:r>
            <a:r>
              <a:rPr lang="de-DE" dirty="0"/>
              <a:t> at the </a:t>
            </a:r>
            <a:r>
              <a:rPr lang="de-DE" dirty="0" err="1"/>
              <a:t>beginning</a:t>
            </a:r>
            <a:endParaRPr dirty="0"/>
          </a:p>
        </p:txBody>
      </p:sp>
      <p:sp>
        <p:nvSpPr>
          <p:cNvPr id="1277" name="Google Shape;1277;p104"/>
          <p:cNvSpPr txBox="1">
            <a:spLocks noGrp="1"/>
          </p:cNvSpPr>
          <p:nvPr>
            <p:ph type="subTitle" idx="5"/>
          </p:nvPr>
        </p:nvSpPr>
        <p:spPr>
          <a:xfrm>
            <a:off x="6055450" y="2904446"/>
            <a:ext cx="2015400" cy="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Time</a:t>
            </a:r>
            <a:endParaRPr dirty="0"/>
          </a:p>
        </p:txBody>
      </p:sp>
      <p:sp>
        <p:nvSpPr>
          <p:cNvPr id="1278" name="Google Shape;1278;p104"/>
          <p:cNvSpPr txBox="1">
            <a:spLocks noGrp="1"/>
          </p:cNvSpPr>
          <p:nvPr>
            <p:ph type="subTitle" idx="6"/>
          </p:nvPr>
        </p:nvSpPr>
        <p:spPr>
          <a:xfrm>
            <a:off x="6055450" y="3306722"/>
            <a:ext cx="2015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 err="1"/>
              <a:t>Wrong</a:t>
            </a:r>
            <a:r>
              <a:rPr lang="de-DE" dirty="0"/>
              <a:t> time </a:t>
            </a:r>
            <a:r>
              <a:rPr lang="de-DE" dirty="0" err="1"/>
              <a:t>estimation</a:t>
            </a:r>
            <a:r>
              <a:rPr lang="de-DE" dirty="0"/>
              <a:t> </a:t>
            </a:r>
            <a:endParaRPr dirty="0"/>
          </a:p>
        </p:txBody>
      </p:sp>
      <p:grpSp>
        <p:nvGrpSpPr>
          <p:cNvPr id="1279" name="Google Shape;1279;p104"/>
          <p:cNvGrpSpPr/>
          <p:nvPr/>
        </p:nvGrpSpPr>
        <p:grpSpPr>
          <a:xfrm>
            <a:off x="1590600" y="1752050"/>
            <a:ext cx="1011000" cy="930000"/>
            <a:chOff x="3173876" y="1739175"/>
            <a:chExt cx="1011000" cy="930000"/>
          </a:xfrm>
        </p:grpSpPr>
        <p:sp>
          <p:nvSpPr>
            <p:cNvPr id="1280" name="Google Shape;1280;p104"/>
            <p:cNvSpPr/>
            <p:nvPr/>
          </p:nvSpPr>
          <p:spPr>
            <a:xfrm>
              <a:off x="3214375" y="1739175"/>
              <a:ext cx="930000" cy="930000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81" name="Google Shape;1281;p104"/>
            <p:cNvSpPr txBox="1"/>
            <p:nvPr/>
          </p:nvSpPr>
          <p:spPr>
            <a:xfrm>
              <a:off x="3173876" y="1870425"/>
              <a:ext cx="1011000" cy="6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500">
                  <a:solidFill>
                    <a:schemeClr val="accent1"/>
                  </a:solidFill>
                  <a:latin typeface="Vidaloka"/>
                  <a:ea typeface="Vidaloka"/>
                  <a:cs typeface="Vidaloka"/>
                  <a:sym typeface="Vidaloka"/>
                </a:rPr>
                <a:t>01</a:t>
              </a:r>
              <a:endParaRPr sz="35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endParaRPr>
            </a:p>
          </p:txBody>
        </p:sp>
      </p:grpSp>
      <p:grpSp>
        <p:nvGrpSpPr>
          <p:cNvPr id="1282" name="Google Shape;1282;p104"/>
          <p:cNvGrpSpPr/>
          <p:nvPr/>
        </p:nvGrpSpPr>
        <p:grpSpPr>
          <a:xfrm>
            <a:off x="4074125" y="1752050"/>
            <a:ext cx="1011000" cy="930000"/>
            <a:chOff x="3173876" y="1739175"/>
            <a:chExt cx="1011000" cy="930000"/>
          </a:xfrm>
        </p:grpSpPr>
        <p:sp>
          <p:nvSpPr>
            <p:cNvPr id="1283" name="Google Shape;1283;p104"/>
            <p:cNvSpPr/>
            <p:nvPr/>
          </p:nvSpPr>
          <p:spPr>
            <a:xfrm>
              <a:off x="3214375" y="1739175"/>
              <a:ext cx="930000" cy="930000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84" name="Google Shape;1284;p104"/>
            <p:cNvSpPr txBox="1"/>
            <p:nvPr/>
          </p:nvSpPr>
          <p:spPr>
            <a:xfrm>
              <a:off x="3173876" y="1870425"/>
              <a:ext cx="1011000" cy="6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500">
                  <a:solidFill>
                    <a:schemeClr val="accent1"/>
                  </a:solidFill>
                  <a:latin typeface="Vidaloka"/>
                  <a:ea typeface="Vidaloka"/>
                  <a:cs typeface="Vidaloka"/>
                  <a:sym typeface="Vidaloka"/>
                </a:rPr>
                <a:t>02</a:t>
              </a:r>
              <a:endParaRPr sz="35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endParaRPr>
            </a:p>
          </p:txBody>
        </p:sp>
      </p:grpSp>
      <p:grpSp>
        <p:nvGrpSpPr>
          <p:cNvPr id="1285" name="Google Shape;1285;p104"/>
          <p:cNvGrpSpPr/>
          <p:nvPr/>
        </p:nvGrpSpPr>
        <p:grpSpPr>
          <a:xfrm>
            <a:off x="6557650" y="1752050"/>
            <a:ext cx="1011000" cy="930000"/>
            <a:chOff x="3173876" y="1739175"/>
            <a:chExt cx="1011000" cy="930000"/>
          </a:xfrm>
        </p:grpSpPr>
        <p:sp>
          <p:nvSpPr>
            <p:cNvPr id="1286" name="Google Shape;1286;p104"/>
            <p:cNvSpPr/>
            <p:nvPr/>
          </p:nvSpPr>
          <p:spPr>
            <a:xfrm>
              <a:off x="3214375" y="1739175"/>
              <a:ext cx="930000" cy="930000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87" name="Google Shape;1287;p104"/>
            <p:cNvSpPr txBox="1"/>
            <p:nvPr/>
          </p:nvSpPr>
          <p:spPr>
            <a:xfrm>
              <a:off x="3173876" y="1870425"/>
              <a:ext cx="1011000" cy="6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500">
                  <a:solidFill>
                    <a:schemeClr val="accent1"/>
                  </a:solidFill>
                  <a:latin typeface="Vidaloka"/>
                  <a:ea typeface="Vidaloka"/>
                  <a:cs typeface="Vidaloka"/>
                  <a:sym typeface="Vidaloka"/>
                </a:rPr>
                <a:t>03</a:t>
              </a:r>
              <a:endParaRPr sz="35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endParaRPr>
            </a:p>
          </p:txBody>
        </p:sp>
      </p:grpSp>
      <p:sp>
        <p:nvSpPr>
          <p:cNvPr id="1288" name="Google Shape;1288;p104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517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Problems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12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1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/>
                                        <p:tgtEl>
                                          <p:spTgt spid="12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/>
                                        <p:tgtEl>
                                          <p:spTgt spid="12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1000"/>
                                        <p:tgtEl>
                                          <p:spTgt spid="12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1000"/>
                                        <p:tgtEl>
                                          <p:spTgt spid="12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0"/>
                                        <p:tgtEl>
                                          <p:spTgt spid="1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/>
                                        <p:tgtEl>
                                          <p:spTgt spid="1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93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Goals</a:t>
            </a:r>
            <a:endParaRPr dirty="0"/>
          </a:p>
        </p:txBody>
      </p:sp>
      <p:graphicFrame>
        <p:nvGraphicFramePr>
          <p:cNvPr id="1016" name="Google Shape;1016;p93"/>
          <p:cNvGraphicFramePr/>
          <p:nvPr>
            <p:extLst>
              <p:ext uri="{D42A27DB-BD31-4B8C-83A1-F6EECF244321}">
                <p14:modId xmlns:p14="http://schemas.microsoft.com/office/powerpoint/2010/main" val="2022520752"/>
              </p:ext>
            </p:extLst>
          </p:nvPr>
        </p:nvGraphicFramePr>
        <p:xfrm>
          <a:off x="1933182" y="1324717"/>
          <a:ext cx="5277586" cy="2835110"/>
        </p:xfrm>
        <a:graphic>
          <a:graphicData uri="http://schemas.openxmlformats.org/drawingml/2006/table">
            <a:tbl>
              <a:tblPr>
                <a:noFill/>
                <a:tableStyleId>{16BD1BC8-C845-41A3-AE54-3AFE2A18FFE3}</a:tableStyleId>
              </a:tblPr>
              <a:tblGrid>
                <a:gridCol w="19635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70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70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7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>
                          <a:solidFill>
                            <a:schemeClr val="dk1"/>
                          </a:solidFill>
                          <a:latin typeface="Vidaloka"/>
                          <a:ea typeface="Vidaloka"/>
                          <a:cs typeface="Vidaloka"/>
                          <a:sym typeface="Vidaloka"/>
                        </a:rPr>
                        <a:t>Desktop</a:t>
                      </a: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-AT" sz="2400" dirty="0">
                          <a:solidFill>
                            <a:schemeClr val="dk1"/>
                          </a:solidFill>
                          <a:latin typeface="Vidaloka"/>
                          <a:ea typeface="Vidaloka"/>
                          <a:cs typeface="Vidaloka"/>
                          <a:sym typeface="Vidaloka"/>
                        </a:rPr>
                        <a:t>Web</a:t>
                      </a:r>
                    </a:p>
                  </a:txBody>
                  <a:tcPr marL="91425" marR="91425" marT="91425" marB="91425">
                    <a:lnL w="28575" cap="flat" cmpd="sng" algn="ctr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>
                          <a:solidFill>
                            <a:schemeClr val="dk1"/>
                          </a:solidFill>
                          <a:latin typeface="Vidaloka"/>
                          <a:ea typeface="Vidaloka"/>
                          <a:cs typeface="Vidaloka"/>
                          <a:sym typeface="Vidaloka"/>
                        </a:rPr>
                        <a:t>Sessions</a:t>
                      </a: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de-AT"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>
                          <a:solidFill>
                            <a:schemeClr val="dk1"/>
                          </a:solidFill>
                          <a:latin typeface="Vidaloka"/>
                          <a:ea typeface="Vidaloka"/>
                          <a:cs typeface="Vidaloka"/>
                          <a:sym typeface="Vidaloka"/>
                        </a:rPr>
                        <a:t>Session Code</a:t>
                      </a: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de-AT"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>
                          <a:solidFill>
                            <a:schemeClr val="dk1"/>
                          </a:solidFill>
                          <a:latin typeface="Vidaloka"/>
                          <a:ea typeface="Vidaloka"/>
                          <a:cs typeface="Vidaloka"/>
                          <a:sym typeface="Vidaloka"/>
                        </a:rPr>
                        <a:t>Time Limit</a:t>
                      </a: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de-AT"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>
                          <a:solidFill>
                            <a:schemeClr val="dk1"/>
                          </a:solidFill>
                          <a:latin typeface="Vidaloka"/>
                          <a:ea typeface="Vidaloka"/>
                          <a:cs typeface="Vidaloka"/>
                          <a:sym typeface="Vidaloka"/>
                        </a:rPr>
                        <a:t>Visualization</a:t>
                      </a: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dirty="0">
                        <a:solidFill>
                          <a:schemeClr val="dk1"/>
                        </a:solidFill>
                        <a:latin typeface="Vidaloka"/>
                        <a:ea typeface="Vidaloka"/>
                        <a:cs typeface="Vidaloka"/>
                        <a:sym typeface="Vidaloka"/>
                      </a:endParaRPr>
                    </a:p>
                  </a:txBody>
                  <a:tcPr marL="91425" marR="91425" marT="91425" marB="91425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17" name="Google Shape;1017;p93"/>
          <p:cNvGrpSpPr/>
          <p:nvPr/>
        </p:nvGrpSpPr>
        <p:grpSpPr>
          <a:xfrm>
            <a:off x="4513378" y="1937685"/>
            <a:ext cx="382473" cy="382473"/>
            <a:chOff x="1492675" y="4992125"/>
            <a:chExt cx="481825" cy="481825"/>
          </a:xfrm>
        </p:grpSpPr>
        <p:sp>
          <p:nvSpPr>
            <p:cNvPr id="1018" name="Google Shape;1018;p93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1019" name="Google Shape;1019;p93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1044" name="Google Shape;1044;p93"/>
          <p:cNvGrpSpPr/>
          <p:nvPr/>
        </p:nvGrpSpPr>
        <p:grpSpPr>
          <a:xfrm>
            <a:off x="4513378" y="2557448"/>
            <a:ext cx="382473" cy="382473"/>
            <a:chOff x="1492675" y="4992125"/>
            <a:chExt cx="481825" cy="481825"/>
          </a:xfrm>
        </p:grpSpPr>
        <p:sp>
          <p:nvSpPr>
            <p:cNvPr id="1045" name="Google Shape;1045;p93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1046" name="Google Shape;1046;p93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1047" name="Google Shape;1047;p93"/>
          <p:cNvGrpSpPr/>
          <p:nvPr/>
        </p:nvGrpSpPr>
        <p:grpSpPr>
          <a:xfrm>
            <a:off x="4513378" y="3121518"/>
            <a:ext cx="382473" cy="382473"/>
            <a:chOff x="2085525" y="4992125"/>
            <a:chExt cx="481825" cy="481825"/>
          </a:xfrm>
        </p:grpSpPr>
        <p:sp>
          <p:nvSpPr>
            <p:cNvPr id="1048" name="Google Shape;1048;p93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1049" name="Google Shape;1049;p93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1050" name="Google Shape;1050;p93"/>
          <p:cNvGrpSpPr/>
          <p:nvPr/>
        </p:nvGrpSpPr>
        <p:grpSpPr>
          <a:xfrm>
            <a:off x="4513348" y="3706587"/>
            <a:ext cx="382473" cy="382473"/>
            <a:chOff x="1492675" y="4992125"/>
            <a:chExt cx="481825" cy="481825"/>
          </a:xfrm>
        </p:grpSpPr>
        <p:sp>
          <p:nvSpPr>
            <p:cNvPr id="1051" name="Google Shape;1051;p93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1052" name="Google Shape;1052;p93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3" name="Google Shape;1017;p93">
            <a:extLst>
              <a:ext uri="{FF2B5EF4-FFF2-40B4-BE49-F238E27FC236}">
                <a16:creationId xmlns:a16="http://schemas.microsoft.com/office/drawing/2014/main" id="{EB89178F-F944-2B45-70D4-DAFAC6AE3823}"/>
              </a:ext>
            </a:extLst>
          </p:cNvPr>
          <p:cNvGrpSpPr/>
          <p:nvPr/>
        </p:nvGrpSpPr>
        <p:grpSpPr>
          <a:xfrm>
            <a:off x="6204925" y="1937684"/>
            <a:ext cx="382473" cy="382473"/>
            <a:chOff x="1492675" y="4992125"/>
            <a:chExt cx="481825" cy="481825"/>
          </a:xfrm>
        </p:grpSpPr>
        <p:sp>
          <p:nvSpPr>
            <p:cNvPr id="4" name="Google Shape;1018;p93">
              <a:extLst>
                <a:ext uri="{FF2B5EF4-FFF2-40B4-BE49-F238E27FC236}">
                  <a16:creationId xmlns:a16="http://schemas.microsoft.com/office/drawing/2014/main" id="{DA014C9B-8801-317E-AB98-4037EA464390}"/>
                </a:ext>
              </a:extLst>
            </p:cNvPr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5" name="Google Shape;1019;p93">
              <a:extLst>
                <a:ext uri="{FF2B5EF4-FFF2-40B4-BE49-F238E27FC236}">
                  <a16:creationId xmlns:a16="http://schemas.microsoft.com/office/drawing/2014/main" id="{18448087-E7AD-43BE-A251-36DF6B033AD0}"/>
                </a:ext>
              </a:extLst>
            </p:cNvPr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6" name="Google Shape;1044;p93">
            <a:extLst>
              <a:ext uri="{FF2B5EF4-FFF2-40B4-BE49-F238E27FC236}">
                <a16:creationId xmlns:a16="http://schemas.microsoft.com/office/drawing/2014/main" id="{292F8BAA-2A12-5DC5-BDCA-89C0B674D0A0}"/>
              </a:ext>
            </a:extLst>
          </p:cNvPr>
          <p:cNvGrpSpPr/>
          <p:nvPr/>
        </p:nvGrpSpPr>
        <p:grpSpPr>
          <a:xfrm>
            <a:off x="6204925" y="2549575"/>
            <a:ext cx="382473" cy="382473"/>
            <a:chOff x="1492675" y="4992125"/>
            <a:chExt cx="481825" cy="481825"/>
          </a:xfrm>
        </p:grpSpPr>
        <p:sp>
          <p:nvSpPr>
            <p:cNvPr id="7" name="Google Shape;1045;p93">
              <a:extLst>
                <a:ext uri="{FF2B5EF4-FFF2-40B4-BE49-F238E27FC236}">
                  <a16:creationId xmlns:a16="http://schemas.microsoft.com/office/drawing/2014/main" id="{627F258D-5252-23AC-5776-900D7B4EDDBE}"/>
                </a:ext>
              </a:extLst>
            </p:cNvPr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8" name="Google Shape;1046;p93">
              <a:extLst>
                <a:ext uri="{FF2B5EF4-FFF2-40B4-BE49-F238E27FC236}">
                  <a16:creationId xmlns:a16="http://schemas.microsoft.com/office/drawing/2014/main" id="{A33E81DD-603A-761B-83D7-23B8B9E7784F}"/>
                </a:ext>
              </a:extLst>
            </p:cNvPr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9" name="Google Shape;1047;p93">
            <a:extLst>
              <a:ext uri="{FF2B5EF4-FFF2-40B4-BE49-F238E27FC236}">
                <a16:creationId xmlns:a16="http://schemas.microsoft.com/office/drawing/2014/main" id="{3E17D0E2-C481-B9A3-AB26-2E928A31207E}"/>
              </a:ext>
            </a:extLst>
          </p:cNvPr>
          <p:cNvGrpSpPr/>
          <p:nvPr/>
        </p:nvGrpSpPr>
        <p:grpSpPr>
          <a:xfrm>
            <a:off x="6204924" y="3121517"/>
            <a:ext cx="382473" cy="382473"/>
            <a:chOff x="2085526" y="4992124"/>
            <a:chExt cx="481825" cy="481825"/>
          </a:xfrm>
        </p:grpSpPr>
        <p:sp>
          <p:nvSpPr>
            <p:cNvPr id="10" name="Google Shape;1048;p93">
              <a:extLst>
                <a:ext uri="{FF2B5EF4-FFF2-40B4-BE49-F238E27FC236}">
                  <a16:creationId xmlns:a16="http://schemas.microsoft.com/office/drawing/2014/main" id="{E0E8A348-FAE7-4D06-86CE-F6FDAE0183F3}"/>
                </a:ext>
              </a:extLst>
            </p:cNvPr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11" name="Google Shape;1049;p93">
              <a:extLst>
                <a:ext uri="{FF2B5EF4-FFF2-40B4-BE49-F238E27FC236}">
                  <a16:creationId xmlns:a16="http://schemas.microsoft.com/office/drawing/2014/main" id="{C9FBC6B7-4DD5-5D4E-56A7-04BEF985B7AA}"/>
                </a:ext>
              </a:extLst>
            </p:cNvPr>
            <p:cNvSpPr/>
            <p:nvPr/>
          </p:nvSpPr>
          <p:spPr>
            <a:xfrm>
              <a:off x="2085526" y="4992124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12" name="Google Shape;1050;p93">
            <a:extLst>
              <a:ext uri="{FF2B5EF4-FFF2-40B4-BE49-F238E27FC236}">
                <a16:creationId xmlns:a16="http://schemas.microsoft.com/office/drawing/2014/main" id="{891E67C8-FBA0-2935-3EFE-953B674A5E28}"/>
              </a:ext>
            </a:extLst>
          </p:cNvPr>
          <p:cNvGrpSpPr/>
          <p:nvPr/>
        </p:nvGrpSpPr>
        <p:grpSpPr>
          <a:xfrm>
            <a:off x="6204924" y="3706587"/>
            <a:ext cx="382473" cy="382473"/>
            <a:chOff x="1492675" y="4992125"/>
            <a:chExt cx="481825" cy="481825"/>
          </a:xfrm>
        </p:grpSpPr>
        <p:sp>
          <p:nvSpPr>
            <p:cNvPr id="13" name="Google Shape;1051;p93">
              <a:extLst>
                <a:ext uri="{FF2B5EF4-FFF2-40B4-BE49-F238E27FC236}">
                  <a16:creationId xmlns:a16="http://schemas.microsoft.com/office/drawing/2014/main" id="{B7D903EA-E4B2-D075-E641-54D39002CF10}"/>
                </a:ext>
              </a:extLst>
            </p:cNvPr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  <p:sp>
          <p:nvSpPr>
            <p:cNvPr id="14" name="Google Shape;1052;p93">
              <a:extLst>
                <a:ext uri="{FF2B5EF4-FFF2-40B4-BE49-F238E27FC236}">
                  <a16:creationId xmlns:a16="http://schemas.microsoft.com/office/drawing/2014/main" id="{4C0512BF-6BF8-4A69-B512-9FE6D8348571}"/>
                </a:ext>
              </a:extLst>
            </p:cNvPr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accent4"/>
                </a:solidFill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69"/>
          <p:cNvSpPr txBox="1">
            <a:spLocks noGrp="1"/>
          </p:cNvSpPr>
          <p:nvPr>
            <p:ph type="title"/>
          </p:nvPr>
        </p:nvSpPr>
        <p:spPr>
          <a:xfrm>
            <a:off x="2714550" y="2366272"/>
            <a:ext cx="3714900" cy="8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573" name="Google Shape;573;p69"/>
          <p:cNvSpPr txBox="1">
            <a:spLocks noGrp="1"/>
          </p:cNvSpPr>
          <p:nvPr>
            <p:ph type="title" idx="2"/>
          </p:nvPr>
        </p:nvSpPr>
        <p:spPr>
          <a:xfrm>
            <a:off x="3746550" y="1339163"/>
            <a:ext cx="1650900" cy="9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574" name="Google Shape;574;p69"/>
          <p:cNvSpPr txBox="1">
            <a:spLocks noGrp="1"/>
          </p:cNvSpPr>
          <p:nvPr>
            <p:ph type="subTitle" idx="1"/>
          </p:nvPr>
        </p:nvSpPr>
        <p:spPr>
          <a:xfrm>
            <a:off x="2291400" y="3076675"/>
            <a:ext cx="4561200" cy="39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-DE" dirty="0"/>
              <a:t>Summary, Future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9940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p10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Future</a:t>
            </a:r>
            <a:endParaRPr dirty="0"/>
          </a:p>
        </p:txBody>
      </p:sp>
      <p:sp>
        <p:nvSpPr>
          <p:cNvPr id="1294" name="Google Shape;1294;p105"/>
          <p:cNvSpPr txBox="1"/>
          <p:nvPr/>
        </p:nvSpPr>
        <p:spPr>
          <a:xfrm>
            <a:off x="1091616" y="330602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4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rPr>
              <a:t>Images</a:t>
            </a:r>
            <a:endParaRPr sz="2400" dirty="0">
              <a:solidFill>
                <a:schemeClr val="accent1"/>
              </a:solidFill>
              <a:latin typeface="Vidaloka"/>
              <a:ea typeface="Vidaloka"/>
              <a:cs typeface="Vidaloka"/>
              <a:sym typeface="Vidaloka"/>
            </a:endParaRPr>
          </a:p>
        </p:txBody>
      </p:sp>
      <p:sp>
        <p:nvSpPr>
          <p:cNvPr id="1295" name="Google Shape;1295;p105"/>
          <p:cNvSpPr txBox="1"/>
          <p:nvPr/>
        </p:nvSpPr>
        <p:spPr>
          <a:xfrm>
            <a:off x="1091638" y="364602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Add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functionality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to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add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images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to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sessions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dirty="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6" name="Google Shape;1296;p105"/>
          <p:cNvSpPr txBox="1"/>
          <p:nvPr/>
        </p:nvSpPr>
        <p:spPr>
          <a:xfrm>
            <a:off x="1091538" y="173917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4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rPr>
              <a:t>Time Limit</a:t>
            </a:r>
            <a:endParaRPr sz="2400" dirty="0">
              <a:solidFill>
                <a:schemeClr val="accent1"/>
              </a:solidFill>
              <a:latin typeface="Vidaloka"/>
              <a:ea typeface="Vidaloka"/>
              <a:cs typeface="Vidaloka"/>
              <a:sym typeface="Vidaloka"/>
            </a:endParaRPr>
          </a:p>
        </p:txBody>
      </p:sp>
      <p:sp>
        <p:nvSpPr>
          <p:cNvPr id="1297" name="Google Shape;1297;p105"/>
          <p:cNvSpPr txBox="1"/>
          <p:nvPr/>
        </p:nvSpPr>
        <p:spPr>
          <a:xfrm>
            <a:off x="1091638" y="207917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Add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editable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time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limit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for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sessions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dirty="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98" name="Google Shape;1298;p105"/>
          <p:cNvSpPr txBox="1"/>
          <p:nvPr/>
        </p:nvSpPr>
        <p:spPr>
          <a:xfrm>
            <a:off x="6386313" y="330602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rPr>
              <a:t>Answers</a:t>
            </a:r>
            <a:endParaRPr sz="2400" dirty="0">
              <a:solidFill>
                <a:schemeClr val="accent1"/>
              </a:solidFill>
              <a:latin typeface="Vidaloka"/>
              <a:ea typeface="Vidaloka"/>
              <a:cs typeface="Vidaloka"/>
              <a:sym typeface="Vidaloka"/>
            </a:endParaRPr>
          </a:p>
        </p:txBody>
      </p:sp>
      <p:sp>
        <p:nvSpPr>
          <p:cNvPr id="1299" name="Google Shape;1299;p105"/>
          <p:cNvSpPr txBox="1"/>
          <p:nvPr/>
        </p:nvSpPr>
        <p:spPr>
          <a:xfrm>
            <a:off x="6548288" y="364602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Add different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types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of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questions</a:t>
            </a:r>
            <a:r>
              <a:rPr lang="de-DE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, e.g. open </a:t>
            </a:r>
            <a:r>
              <a:rPr lang="de-DE" dirty="0" err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answers</a:t>
            </a:r>
            <a:endParaRPr dirty="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00" name="Google Shape;1300;p105"/>
          <p:cNvSpPr txBox="1"/>
          <p:nvPr/>
        </p:nvSpPr>
        <p:spPr>
          <a:xfrm>
            <a:off x="6386313" y="1739175"/>
            <a:ext cx="18282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rPr>
              <a:t>Audio Files</a:t>
            </a:r>
            <a:endParaRPr sz="2400" dirty="0">
              <a:solidFill>
                <a:schemeClr val="accent1"/>
              </a:solidFill>
              <a:latin typeface="Vidaloka"/>
              <a:ea typeface="Vidaloka"/>
              <a:cs typeface="Vidaloka"/>
              <a:sym typeface="Vidaloka"/>
            </a:endParaRPr>
          </a:p>
        </p:txBody>
      </p:sp>
      <p:sp>
        <p:nvSpPr>
          <p:cNvPr id="1301" name="Google Shape;1301;p105"/>
          <p:cNvSpPr txBox="1"/>
          <p:nvPr/>
        </p:nvSpPr>
        <p:spPr>
          <a:xfrm>
            <a:off x="6548263" y="2079175"/>
            <a:ext cx="16662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Add functionality to add audio files to sessions.</a:t>
            </a:r>
          </a:p>
        </p:txBody>
      </p:sp>
      <p:grpSp>
        <p:nvGrpSpPr>
          <p:cNvPr id="1302" name="Google Shape;1302;p105"/>
          <p:cNvGrpSpPr/>
          <p:nvPr/>
        </p:nvGrpSpPr>
        <p:grpSpPr>
          <a:xfrm>
            <a:off x="3254913" y="1739175"/>
            <a:ext cx="2958275" cy="2496845"/>
            <a:chOff x="3254913" y="1739175"/>
            <a:chExt cx="2958275" cy="2496845"/>
          </a:xfrm>
        </p:grpSpPr>
        <p:sp>
          <p:nvSpPr>
            <p:cNvPr id="1304" name="Google Shape;1304;p105"/>
            <p:cNvSpPr/>
            <p:nvPr/>
          </p:nvSpPr>
          <p:spPr>
            <a:xfrm>
              <a:off x="3730408" y="1973899"/>
              <a:ext cx="2007300" cy="2007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chemeClr val="dk1"/>
                </a:buClr>
                <a:buSzPts val="3000"/>
              </a:pPr>
              <a:r>
                <a:rPr lang="de-DE" sz="2000" dirty="0">
                  <a:solidFill>
                    <a:schemeClr val="bg1"/>
                  </a:solidFill>
                  <a:latin typeface="Vidaloka"/>
                  <a:sym typeface="Vidaloka"/>
                </a:rPr>
                <a:t>Voting App</a:t>
              </a:r>
              <a:endParaRPr sz="2000" dirty="0">
                <a:solidFill>
                  <a:schemeClr val="bg1"/>
                </a:solidFill>
                <a:latin typeface="Vidaloka"/>
                <a:sym typeface="Vidaloka"/>
              </a:endParaRPr>
            </a:p>
          </p:txBody>
        </p:sp>
        <p:grpSp>
          <p:nvGrpSpPr>
            <p:cNvPr id="1312" name="Google Shape;1312;p105"/>
            <p:cNvGrpSpPr/>
            <p:nvPr/>
          </p:nvGrpSpPr>
          <p:grpSpPr>
            <a:xfrm>
              <a:off x="3254913" y="1739175"/>
              <a:ext cx="1011000" cy="930000"/>
              <a:chOff x="3173876" y="1739175"/>
              <a:chExt cx="1011000" cy="930000"/>
            </a:xfrm>
          </p:grpSpPr>
          <p:sp>
            <p:nvSpPr>
              <p:cNvPr id="1313" name="Google Shape;1313;p105"/>
              <p:cNvSpPr/>
              <p:nvPr/>
            </p:nvSpPr>
            <p:spPr>
              <a:xfrm>
                <a:off x="3214375" y="1739175"/>
                <a:ext cx="930000" cy="930000"/>
              </a:xfrm>
              <a:prstGeom prst="rect">
                <a:avLst/>
              </a:prstGeom>
              <a:solidFill>
                <a:schemeClr val="lt1"/>
              </a:solidFill>
              <a:ln w="2857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314" name="Google Shape;1314;p105"/>
              <p:cNvSpPr txBox="1"/>
              <p:nvPr/>
            </p:nvSpPr>
            <p:spPr>
              <a:xfrm>
                <a:off x="3173876" y="1870425"/>
                <a:ext cx="1011000" cy="66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500">
                    <a:solidFill>
                      <a:schemeClr val="accent1"/>
                    </a:solidFill>
                    <a:latin typeface="Vidaloka"/>
                    <a:ea typeface="Vidaloka"/>
                    <a:cs typeface="Vidaloka"/>
                    <a:sym typeface="Vidaloka"/>
                  </a:rPr>
                  <a:t>01</a:t>
                </a:r>
                <a:endParaRPr sz="3500" dirty="0">
                  <a:solidFill>
                    <a:schemeClr val="accent1"/>
                  </a:solidFill>
                  <a:latin typeface="Vidaloka"/>
                  <a:ea typeface="Vidaloka"/>
                  <a:cs typeface="Vidaloka"/>
                  <a:sym typeface="Vidaloka"/>
                </a:endParaRPr>
              </a:p>
            </p:txBody>
          </p:sp>
        </p:grpSp>
        <p:grpSp>
          <p:nvGrpSpPr>
            <p:cNvPr id="1315" name="Google Shape;1315;p105"/>
            <p:cNvGrpSpPr/>
            <p:nvPr/>
          </p:nvGrpSpPr>
          <p:grpSpPr>
            <a:xfrm>
              <a:off x="5202188" y="1739175"/>
              <a:ext cx="1011000" cy="930000"/>
              <a:chOff x="5121151" y="1739175"/>
              <a:chExt cx="1011000" cy="930000"/>
            </a:xfrm>
          </p:grpSpPr>
          <p:sp>
            <p:nvSpPr>
              <p:cNvPr id="1316" name="Google Shape;1316;p105"/>
              <p:cNvSpPr/>
              <p:nvPr/>
            </p:nvSpPr>
            <p:spPr>
              <a:xfrm>
                <a:off x="5161644" y="1739175"/>
                <a:ext cx="930000" cy="930000"/>
              </a:xfrm>
              <a:prstGeom prst="rect">
                <a:avLst/>
              </a:prstGeom>
              <a:solidFill>
                <a:schemeClr val="lt1"/>
              </a:solidFill>
              <a:ln w="2857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317" name="Google Shape;1317;p105"/>
              <p:cNvSpPr txBox="1"/>
              <p:nvPr/>
            </p:nvSpPr>
            <p:spPr>
              <a:xfrm>
                <a:off x="5121151" y="1870425"/>
                <a:ext cx="1011000" cy="66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500">
                    <a:solidFill>
                      <a:schemeClr val="accent1"/>
                    </a:solidFill>
                    <a:latin typeface="Vidaloka"/>
                    <a:ea typeface="Vidaloka"/>
                    <a:cs typeface="Vidaloka"/>
                    <a:sym typeface="Vidaloka"/>
                  </a:rPr>
                  <a:t>02</a:t>
                </a:r>
                <a:endParaRPr sz="3500" dirty="0">
                  <a:solidFill>
                    <a:schemeClr val="accent1"/>
                  </a:solidFill>
                  <a:latin typeface="Vidaloka"/>
                  <a:ea typeface="Vidaloka"/>
                  <a:cs typeface="Vidaloka"/>
                  <a:sym typeface="Vidaloka"/>
                </a:endParaRPr>
              </a:p>
            </p:txBody>
          </p:sp>
        </p:grpSp>
        <p:grpSp>
          <p:nvGrpSpPr>
            <p:cNvPr id="1318" name="Google Shape;1318;p105"/>
            <p:cNvGrpSpPr/>
            <p:nvPr/>
          </p:nvGrpSpPr>
          <p:grpSpPr>
            <a:xfrm>
              <a:off x="3254913" y="3306020"/>
              <a:ext cx="1011000" cy="930000"/>
              <a:chOff x="3173876" y="3306020"/>
              <a:chExt cx="1011000" cy="930000"/>
            </a:xfrm>
          </p:grpSpPr>
          <p:sp>
            <p:nvSpPr>
              <p:cNvPr id="1319" name="Google Shape;1319;p105"/>
              <p:cNvSpPr/>
              <p:nvPr/>
            </p:nvSpPr>
            <p:spPr>
              <a:xfrm>
                <a:off x="3214375" y="3306020"/>
                <a:ext cx="930000" cy="930000"/>
              </a:xfrm>
              <a:prstGeom prst="rect">
                <a:avLst/>
              </a:prstGeom>
              <a:solidFill>
                <a:schemeClr val="lt1"/>
              </a:solidFill>
              <a:ln w="2857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320" name="Google Shape;1320;p105"/>
              <p:cNvSpPr txBox="1"/>
              <p:nvPr/>
            </p:nvSpPr>
            <p:spPr>
              <a:xfrm>
                <a:off x="3173876" y="3437275"/>
                <a:ext cx="1011000" cy="66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500">
                    <a:solidFill>
                      <a:schemeClr val="accent1"/>
                    </a:solidFill>
                    <a:latin typeface="Vidaloka"/>
                    <a:ea typeface="Vidaloka"/>
                    <a:cs typeface="Vidaloka"/>
                    <a:sym typeface="Vidaloka"/>
                  </a:rPr>
                  <a:t>03</a:t>
                </a:r>
                <a:endParaRPr sz="3500" dirty="0">
                  <a:solidFill>
                    <a:schemeClr val="accent1"/>
                  </a:solidFill>
                  <a:latin typeface="Vidaloka"/>
                  <a:ea typeface="Vidaloka"/>
                  <a:cs typeface="Vidaloka"/>
                  <a:sym typeface="Vidaloka"/>
                </a:endParaRPr>
              </a:p>
            </p:txBody>
          </p:sp>
        </p:grpSp>
        <p:grpSp>
          <p:nvGrpSpPr>
            <p:cNvPr id="1321" name="Google Shape;1321;p105"/>
            <p:cNvGrpSpPr/>
            <p:nvPr/>
          </p:nvGrpSpPr>
          <p:grpSpPr>
            <a:xfrm>
              <a:off x="5202188" y="3306020"/>
              <a:ext cx="1011000" cy="930000"/>
              <a:chOff x="5121151" y="3306020"/>
              <a:chExt cx="1011000" cy="930000"/>
            </a:xfrm>
          </p:grpSpPr>
          <p:sp>
            <p:nvSpPr>
              <p:cNvPr id="1322" name="Google Shape;1322;p105"/>
              <p:cNvSpPr/>
              <p:nvPr/>
            </p:nvSpPr>
            <p:spPr>
              <a:xfrm>
                <a:off x="5161644" y="3306020"/>
                <a:ext cx="930000" cy="930000"/>
              </a:xfrm>
              <a:prstGeom prst="rect">
                <a:avLst/>
              </a:prstGeom>
              <a:solidFill>
                <a:schemeClr val="lt1"/>
              </a:solidFill>
              <a:ln w="2857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1323" name="Google Shape;1323;p105"/>
              <p:cNvSpPr txBox="1"/>
              <p:nvPr/>
            </p:nvSpPr>
            <p:spPr>
              <a:xfrm>
                <a:off x="5121151" y="3437275"/>
                <a:ext cx="1011000" cy="66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500">
                    <a:solidFill>
                      <a:schemeClr val="accent1"/>
                    </a:solidFill>
                    <a:latin typeface="Vidaloka"/>
                    <a:ea typeface="Vidaloka"/>
                    <a:cs typeface="Vidaloka"/>
                    <a:sym typeface="Vidaloka"/>
                  </a:rPr>
                  <a:t>04</a:t>
                </a:r>
                <a:endParaRPr sz="3500" dirty="0">
                  <a:solidFill>
                    <a:schemeClr val="accent1"/>
                  </a:solidFill>
                  <a:latin typeface="Vidaloka"/>
                  <a:ea typeface="Vidaloka"/>
                  <a:cs typeface="Vidaloka"/>
                  <a:sym typeface="Vidaloka"/>
                </a:endParaRPr>
              </a:p>
            </p:txBody>
          </p:sp>
        </p:grp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115"/>
          <p:cNvSpPr txBox="1">
            <a:spLocks noGrp="1"/>
          </p:cNvSpPr>
          <p:nvPr>
            <p:ph type="subTitle" idx="1"/>
          </p:nvPr>
        </p:nvSpPr>
        <p:spPr>
          <a:xfrm>
            <a:off x="803750" y="2693525"/>
            <a:ext cx="3159300" cy="55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de-DE" dirty="0"/>
              <a:t>Was </a:t>
            </a:r>
            <a:r>
              <a:rPr lang="de-DE" dirty="0" err="1"/>
              <a:t>it</a:t>
            </a:r>
            <a:r>
              <a:rPr lang="de-DE" dirty="0"/>
              <a:t> all just </a:t>
            </a:r>
            <a:r>
              <a:rPr lang="de-DE" dirty="0" err="1"/>
              <a:t>fantasy</a:t>
            </a:r>
            <a:r>
              <a:rPr lang="de-DE" dirty="0"/>
              <a:t>?</a:t>
            </a:r>
            <a:endParaRPr dirty="0"/>
          </a:p>
        </p:txBody>
      </p:sp>
      <p:grpSp>
        <p:nvGrpSpPr>
          <p:cNvPr id="1483" name="Google Shape;1483;p115"/>
          <p:cNvGrpSpPr/>
          <p:nvPr/>
        </p:nvGrpSpPr>
        <p:grpSpPr>
          <a:xfrm>
            <a:off x="5205650" y="1369751"/>
            <a:ext cx="3017896" cy="2531353"/>
            <a:chOff x="649171" y="238145"/>
            <a:chExt cx="6249525" cy="5241981"/>
          </a:xfrm>
        </p:grpSpPr>
        <p:sp>
          <p:nvSpPr>
            <p:cNvPr id="1484" name="Google Shape;1484;p115"/>
            <p:cNvSpPr/>
            <p:nvPr/>
          </p:nvSpPr>
          <p:spPr>
            <a:xfrm>
              <a:off x="2850275" y="4515119"/>
              <a:ext cx="1849000" cy="810050"/>
            </a:xfrm>
            <a:custGeom>
              <a:avLst/>
              <a:gdLst/>
              <a:ahLst/>
              <a:cxnLst/>
              <a:rect l="l" t="t" r="r" b="b"/>
              <a:pathLst>
                <a:path w="73960" h="32402" extrusionOk="0">
                  <a:moveTo>
                    <a:pt x="7960" y="1"/>
                  </a:moveTo>
                  <a:cubicBezTo>
                    <a:pt x="5284" y="10848"/>
                    <a:pt x="2607" y="21625"/>
                    <a:pt x="1" y="32402"/>
                  </a:cubicBezTo>
                  <a:lnTo>
                    <a:pt x="73960" y="32402"/>
                  </a:lnTo>
                  <a:lnTo>
                    <a:pt x="66071" y="1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485" name="Google Shape;1485;p115"/>
            <p:cNvSpPr/>
            <p:nvPr/>
          </p:nvSpPr>
          <p:spPr>
            <a:xfrm>
              <a:off x="2638975" y="5325151"/>
              <a:ext cx="2269850" cy="154975"/>
            </a:xfrm>
            <a:custGeom>
              <a:avLst/>
              <a:gdLst/>
              <a:ahLst/>
              <a:cxnLst/>
              <a:rect l="l" t="t" r="r" b="b"/>
              <a:pathLst>
                <a:path w="90794" h="6199" extrusionOk="0">
                  <a:moveTo>
                    <a:pt x="3875" y="0"/>
                  </a:moveTo>
                  <a:cubicBezTo>
                    <a:pt x="1761" y="0"/>
                    <a:pt x="1" y="2043"/>
                    <a:pt x="1" y="4508"/>
                  </a:cubicBezTo>
                  <a:lnTo>
                    <a:pt x="1" y="6199"/>
                  </a:lnTo>
                  <a:lnTo>
                    <a:pt x="90794" y="6199"/>
                  </a:lnTo>
                  <a:lnTo>
                    <a:pt x="90794" y="4508"/>
                  </a:lnTo>
                  <a:cubicBezTo>
                    <a:pt x="90794" y="2043"/>
                    <a:pt x="89103" y="0"/>
                    <a:pt x="86990" y="0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486" name="Google Shape;1486;p115"/>
            <p:cNvSpPr/>
            <p:nvPr/>
          </p:nvSpPr>
          <p:spPr>
            <a:xfrm>
              <a:off x="649171" y="238145"/>
              <a:ext cx="6249525" cy="4250923"/>
            </a:xfrm>
            <a:custGeom>
              <a:avLst/>
              <a:gdLst/>
              <a:ahLst/>
              <a:cxnLst/>
              <a:rect l="l" t="t" r="r" b="b"/>
              <a:pathLst>
                <a:path w="249981" h="157427" extrusionOk="0">
                  <a:moveTo>
                    <a:pt x="6198" y="0"/>
                  </a:moveTo>
                  <a:cubicBezTo>
                    <a:pt x="2817" y="0"/>
                    <a:pt x="0" y="2817"/>
                    <a:pt x="0" y="6198"/>
                  </a:cubicBezTo>
                  <a:lnTo>
                    <a:pt x="0" y="157427"/>
                  </a:lnTo>
                  <a:lnTo>
                    <a:pt x="249980" y="157427"/>
                  </a:lnTo>
                  <a:lnTo>
                    <a:pt x="249980" y="6198"/>
                  </a:lnTo>
                  <a:cubicBezTo>
                    <a:pt x="249980" y="2817"/>
                    <a:pt x="247233" y="0"/>
                    <a:pt x="243782" y="0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487" name="Google Shape;1487;p115"/>
            <p:cNvSpPr/>
            <p:nvPr/>
          </p:nvSpPr>
          <p:spPr>
            <a:xfrm>
              <a:off x="904475" y="481125"/>
              <a:ext cx="5738850" cy="3435575"/>
            </a:xfrm>
            <a:custGeom>
              <a:avLst/>
              <a:gdLst/>
              <a:ahLst/>
              <a:cxnLst/>
              <a:rect l="l" t="t" r="r" b="b"/>
              <a:pathLst>
                <a:path w="229554" h="137423" extrusionOk="0">
                  <a:moveTo>
                    <a:pt x="0" y="0"/>
                  </a:moveTo>
                  <a:lnTo>
                    <a:pt x="0" y="137423"/>
                  </a:lnTo>
                  <a:lnTo>
                    <a:pt x="229554" y="137423"/>
                  </a:lnTo>
                  <a:lnTo>
                    <a:pt x="229554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" name="Titel 2">
            <a:extLst>
              <a:ext uri="{FF2B5EF4-FFF2-40B4-BE49-F238E27FC236}">
                <a16:creationId xmlns:a16="http://schemas.microsoft.com/office/drawing/2014/main" id="{F71F00CE-8F08-579C-841A-138B154E0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4" name="Grafik 3" descr="Ein Bild, das Text, Screenshot, Schrift, pink enthält.&#10;&#10;Automatisch generierte Beschreibung">
            <a:extLst>
              <a:ext uri="{FF2B5EF4-FFF2-40B4-BE49-F238E27FC236}">
                <a16:creationId xmlns:a16="http://schemas.microsoft.com/office/drawing/2014/main" id="{CE5E494D-5802-85E0-017D-7EB8A66E0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354" y="1487086"/>
            <a:ext cx="2777873" cy="1682358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B8B428D-5A1D-AD7B-E5F3-BECE67E342C0}"/>
              </a:ext>
            </a:extLst>
          </p:cNvPr>
          <p:cNvSpPr txBox="1"/>
          <p:nvPr/>
        </p:nvSpPr>
        <p:spPr>
          <a:xfrm>
            <a:off x="5322354" y="3140349"/>
            <a:ext cx="25170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Figure 7 – Voting App Login Page</a:t>
            </a:r>
          </a:p>
        </p:txBody>
      </p:sp>
    </p:spTree>
    <p:extLst>
      <p:ext uri="{BB962C8B-B14F-4D97-AF65-F5344CB8AC3E}">
        <p14:creationId xmlns:p14="http://schemas.microsoft.com/office/powerpoint/2010/main" val="910054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8" name="Google Shape;1878;p128"/>
          <p:cNvSpPr txBox="1">
            <a:spLocks noGrp="1"/>
          </p:cNvSpPr>
          <p:nvPr>
            <p:ph type="subTitle" idx="1"/>
          </p:nvPr>
        </p:nvSpPr>
        <p:spPr>
          <a:xfrm>
            <a:off x="2247500" y="1433050"/>
            <a:ext cx="1838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</a:t>
            </a:r>
            <a:endParaRPr dirty="0"/>
          </a:p>
        </p:txBody>
      </p:sp>
      <p:sp>
        <p:nvSpPr>
          <p:cNvPr id="1879" name="Google Shape;1879;p128"/>
          <p:cNvSpPr txBox="1">
            <a:spLocks noGrp="1"/>
          </p:cNvSpPr>
          <p:nvPr>
            <p:ph type="subTitle" idx="2"/>
          </p:nvPr>
        </p:nvSpPr>
        <p:spPr>
          <a:xfrm>
            <a:off x="2247500" y="1790050"/>
            <a:ext cx="5160300" cy="27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e-DE" dirty="0"/>
              <a:t>Figure 1: https://tomwala.blog/wp-content/uploads/2018/12/kahoot.png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e-DE" dirty="0"/>
              <a:t>Figure 2: Voting App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e-DE" dirty="0"/>
              <a:t>Figure 3: https://dev.to/jazzybruno/spring-boot-project-folder-structure-12oe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e-DE" dirty="0"/>
              <a:t>Figure 4: https://www.htl-salzburg.ac.at/news-detail/programmiersprachen-in-der-elektronik-abteilung.html</a:t>
            </a:r>
          </a:p>
        </p:txBody>
      </p:sp>
      <p:sp>
        <p:nvSpPr>
          <p:cNvPr id="1880" name="Google Shape;1880;p128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297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Resources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5626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8" name="Google Shape;1878;p128"/>
          <p:cNvSpPr txBox="1">
            <a:spLocks noGrp="1"/>
          </p:cNvSpPr>
          <p:nvPr>
            <p:ph type="subTitle" idx="1"/>
          </p:nvPr>
        </p:nvSpPr>
        <p:spPr>
          <a:xfrm>
            <a:off x="2247500" y="1433050"/>
            <a:ext cx="1838100" cy="35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Photos</a:t>
            </a:r>
            <a:endParaRPr dirty="0"/>
          </a:p>
        </p:txBody>
      </p:sp>
      <p:sp>
        <p:nvSpPr>
          <p:cNvPr id="1879" name="Google Shape;1879;p128"/>
          <p:cNvSpPr txBox="1">
            <a:spLocks noGrp="1"/>
          </p:cNvSpPr>
          <p:nvPr>
            <p:ph type="subTitle" idx="2"/>
          </p:nvPr>
        </p:nvSpPr>
        <p:spPr>
          <a:xfrm>
            <a:off x="2247500" y="1790050"/>
            <a:ext cx="5160300" cy="27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e-DE" dirty="0"/>
              <a:t>Figure 5: https://www.heise.de/select/ct/2020/13/2006317524240742331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e-DE" dirty="0"/>
              <a:t>Figure 6: Voting App README.md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e-DE" dirty="0"/>
              <a:t>Figure 7: Voting App 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de-DE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400" dirty="0">
                <a:solidFill>
                  <a:schemeClr val="accent1"/>
                </a:solidFill>
                <a:latin typeface="Vidaloka"/>
                <a:ea typeface="Vidaloka"/>
                <a:cs typeface="Vidaloka"/>
                <a:sym typeface="Vidaloka"/>
              </a:rPr>
              <a:t>Icons</a:t>
            </a: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de-DE" sz="1200" dirty="0"/>
              <a:t>https://www.flaticon.com/de/</a:t>
            </a:r>
          </a:p>
        </p:txBody>
      </p:sp>
      <p:sp>
        <p:nvSpPr>
          <p:cNvPr id="1880" name="Google Shape;1880;p128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297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Resources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69"/>
          <p:cNvSpPr txBox="1">
            <a:spLocks noGrp="1"/>
          </p:cNvSpPr>
          <p:nvPr>
            <p:ph type="title"/>
          </p:nvPr>
        </p:nvSpPr>
        <p:spPr>
          <a:xfrm>
            <a:off x="772798" y="2162550"/>
            <a:ext cx="7598403" cy="8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 for your attention!</a:t>
            </a:r>
            <a:endParaRPr dirty="0"/>
          </a:p>
        </p:txBody>
      </p:sp>
      <p:pic>
        <p:nvPicPr>
          <p:cNvPr id="1026" name="Picture 2" descr="oi oi oi 🗣️🔥 | Fandom">
            <a:extLst>
              <a:ext uri="{FF2B5EF4-FFF2-40B4-BE49-F238E27FC236}">
                <a16:creationId xmlns:a16="http://schemas.microsoft.com/office/drawing/2014/main" id="{69697BAA-E720-C546-F2FA-74D80E1A1C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454434"/>
            <a:ext cx="360297" cy="398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921129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447</Words>
  <Application>Microsoft Office PowerPoint</Application>
  <PresentationFormat>Bildschirmpräsentation (16:9)</PresentationFormat>
  <Paragraphs>109</Paragraphs>
  <Slides>20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Josefin Sans</vt:lpstr>
      <vt:lpstr>Vidaloka</vt:lpstr>
      <vt:lpstr>Montserrat</vt:lpstr>
      <vt:lpstr>Crimson Text</vt:lpstr>
      <vt:lpstr>Arial</vt:lpstr>
      <vt:lpstr>Merriweather Light</vt:lpstr>
      <vt:lpstr>Minimalist Business Slides XL by Slidesgo</vt:lpstr>
      <vt:lpstr>Voting App</vt:lpstr>
      <vt:lpstr>Table of contents</vt:lpstr>
      <vt:lpstr>—Lao Tse</vt:lpstr>
      <vt:lpstr>Personal Intention</vt:lpstr>
      <vt:lpstr>Introduction</vt:lpstr>
      <vt:lpstr>Voting App</vt:lpstr>
      <vt:lpstr>PowerPoint-Präsentation</vt:lpstr>
      <vt:lpstr>Implementation</vt:lpstr>
      <vt:lpstr>App Architecture</vt:lpstr>
      <vt:lpstr>Data Model</vt:lpstr>
      <vt:lpstr>API Endpoints</vt:lpstr>
      <vt:lpstr>Problems</vt:lpstr>
      <vt:lpstr>Problems</vt:lpstr>
      <vt:lpstr>Goals</vt:lpstr>
      <vt:lpstr>Conclusion</vt:lpstr>
      <vt:lpstr>Future</vt:lpstr>
      <vt:lpstr>Live Demo</vt:lpstr>
      <vt:lpstr>Resources</vt:lpstr>
      <vt:lpstr>Resources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Daniel</dc:creator>
  <cp:lastModifiedBy>Jessner Daniel</cp:lastModifiedBy>
  <cp:revision>3</cp:revision>
  <dcterms:modified xsi:type="dcterms:W3CDTF">2024-06-11T08:53:43Z</dcterms:modified>
</cp:coreProperties>
</file>